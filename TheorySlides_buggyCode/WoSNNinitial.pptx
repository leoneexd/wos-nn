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4" r:id="rId7"/>
    <p:sldId id="261" r:id="rId8"/>
    <p:sldId id="267" r:id="rId9"/>
    <p:sldId id="262" r:id="rId10"/>
    <p:sldId id="265" r:id="rId11"/>
    <p:sldId id="266" r:id="rId12"/>
    <p:sldId id="26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66"/>
  </p:normalViewPr>
  <p:slideViewPr>
    <p:cSldViewPr snapToGrid="0">
      <p:cViewPr varScale="1">
        <p:scale>
          <a:sx n="102" d="100"/>
          <a:sy n="102" d="100"/>
        </p:scale>
        <p:origin x="95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E9993B-EBAF-4840-BF9F-DF5846ECC994}" type="datetimeFigureOut">
              <a:rPr lang="en-US" smtClean="0"/>
              <a:t>11/2/23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DB8572-B826-2B4D-8603-0D49688BC0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10532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DB8572-B826-2B4D-8603-0D49688BC0D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82797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5AAEFA-6B5B-AB67-0A5D-50A3FA5968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F19EDD-E0B8-2982-5841-3B0BF8B80F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51FD6A-9793-2D48-22AC-26DD1F1825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D8026-5CD7-E247-B6AF-4F2A72542819}" type="datetimeFigureOut">
              <a:rPr lang="en-US" smtClean="0"/>
              <a:t>11/2/23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81D6D2-8B0E-2F09-5447-E969CD1908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1704D3-1624-8428-A406-89267B02D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AA932-496E-A044-A199-3394CA3C6F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1913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FD2991-7BCE-ED25-418B-A69F92AA38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4139BF-A45A-0717-A80D-34DC23127F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A066E1-6EBF-69AD-09E0-6AFA54B814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D8026-5CD7-E247-B6AF-4F2A72542819}" type="datetimeFigureOut">
              <a:rPr lang="en-US" smtClean="0"/>
              <a:t>11/2/23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88D43C-3EFB-8761-2EF9-7B8190A087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511D73-AB80-FC9A-9C8C-76BAD5B8D7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AA932-496E-A044-A199-3394CA3C6F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49214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99DB83-1B4C-C23E-2097-9D4BA5F43E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B56B55-7689-9948-C90F-AAD3C09EE1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34E74D-C979-8064-188A-CB89282E9E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D8026-5CD7-E247-B6AF-4F2A72542819}" type="datetimeFigureOut">
              <a:rPr lang="en-US" smtClean="0"/>
              <a:t>11/2/23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877DE2-3220-D368-3A3A-3D835A8FE5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87C880-2CF6-1B46-4297-85479F53F8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AA932-496E-A044-A199-3394CA3C6F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85939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27A021-56A6-7B2A-B0F2-CC41112B24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7FE439-89D9-3748-38B4-B906BBC5B51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001B92-1CF1-91C2-0EDA-B231036579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975F48-3EA8-CC90-FC6C-C7566D2B4B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D8026-5CD7-E247-B6AF-4F2A72542819}" type="datetimeFigureOut">
              <a:rPr lang="en-US" smtClean="0"/>
              <a:t>11/2/23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E2A4ED-D793-C80C-75D0-A0D1ED02D5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CE18CD-BD9E-95D1-7CBE-D3E2497AB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AA932-496E-A044-A199-3394CA3C6F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80918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D056F1-49FC-121E-C71D-EC61BFFA49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DF1C5C-D5F9-FA39-E44A-6110A47B0E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A62F10-199C-E7DC-CCEE-668D8C6261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58AB53-266C-B39C-85CE-DB3FC5B528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B3A5779-EE78-E6FE-884D-0552779B85D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C93C2F0-51D2-223E-555F-F276B65DC2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D8026-5CD7-E247-B6AF-4F2A72542819}" type="datetimeFigureOut">
              <a:rPr lang="en-US" smtClean="0"/>
              <a:t>11/2/23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F7E5791-8127-5188-0D3F-E77C9C0629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6C9D43-B985-CFCE-5A68-E009A46C4D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AA932-496E-A044-A199-3394CA3C6F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98533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039284-C9C4-2AB9-A4CB-BE484EC2DD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3C60E6C-9C3B-32CE-E5E6-86348D8EE8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D8026-5CD7-E247-B6AF-4F2A72542819}" type="datetimeFigureOut">
              <a:rPr lang="en-US" smtClean="0"/>
              <a:t>11/2/23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4378422-63F2-BAD0-C0C5-0E9EE0E8FC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4FC0D2-8A54-7FCA-9A27-C6AD8A5D3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AA932-496E-A044-A199-3394CA3C6F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99519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AA02EDF-D164-525B-E2E7-1F3B1881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D8026-5CD7-E247-B6AF-4F2A72542819}" type="datetimeFigureOut">
              <a:rPr lang="en-US" smtClean="0"/>
              <a:t>11/2/23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1537AF3-041C-5915-2EDD-BC8714389A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C4E6FC-D54A-F828-2647-AFB4100562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AA932-496E-A044-A199-3394CA3C6F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74433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EABD4-307D-604C-B16C-C3725F0295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FA2CA9-8C61-44EA-2F6B-6DF24CE2B0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D5DEC8-127D-7DCF-E2EF-EF2C23B842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289EB4-1CA1-0823-7233-B8E8BA57A7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D8026-5CD7-E247-B6AF-4F2A72542819}" type="datetimeFigureOut">
              <a:rPr lang="en-US" smtClean="0"/>
              <a:t>11/2/23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22A727-DD5F-80C6-0EEF-2E3A7BB00E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6459BD-EA39-60FF-4627-89D81A61B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AA932-496E-A044-A199-3394CA3C6F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30164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2DFFA9-E92E-44E5-5ECD-91421FCE6B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B591589-CB55-ABFE-6BEC-030BF35D275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8EDB4A-068C-9503-5454-46D3B03388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C3B23E-88E4-EB30-6C0E-91417309E7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D8026-5CD7-E247-B6AF-4F2A72542819}" type="datetimeFigureOut">
              <a:rPr lang="en-US" smtClean="0"/>
              <a:t>11/2/23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CE1249-1315-BF67-E3A5-1AE8F5D7A8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49DE13-BA32-8ABA-D123-972D3183A6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AA932-496E-A044-A199-3394CA3C6F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52202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094DC8-26E0-B9A9-AD8C-411FADB394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BBA397-C472-2B69-8D51-C2C06A357C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A2E370-1B3C-BC1F-4DFD-8118359659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D8026-5CD7-E247-B6AF-4F2A72542819}" type="datetimeFigureOut">
              <a:rPr lang="en-US" smtClean="0"/>
              <a:t>11/2/23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0EB96B-238C-8380-847F-0505E3D432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DCB892-E2E7-E792-F432-4848C31484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AA932-496E-A044-A199-3394CA3C6F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0332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DE3D1DD-32A1-6560-30E0-CF4F8557FA4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F27049-FAB0-4416-80CE-08BA60819D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F124CA-0807-59B4-6663-498FC58632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D8026-5CD7-E247-B6AF-4F2A72542819}" type="datetimeFigureOut">
              <a:rPr lang="en-US" smtClean="0"/>
              <a:t>11/2/23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3C790E-BE4C-69A3-569D-81F44A1F35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4C78BE-3A54-FF67-536F-8417EC4798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AA932-496E-A044-A199-3394CA3C6F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9457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0D664A4-7D48-FB11-38F1-437463E64D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8C5593-C6AD-EBA3-100D-9ECA3CE280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8DE630-1DB2-86E1-4655-CCD6DAC597D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1D8026-5CD7-E247-B6AF-4F2A72542819}" type="datetimeFigureOut">
              <a:rPr lang="en-US" smtClean="0"/>
              <a:t>11/2/23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69F3C4-8331-9ED0-0F68-EC7980C6B8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AC041D-391B-51BF-AA24-1F533572EA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4AA932-496E-A044-A199-3394CA3C6F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29240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cs.dartmouth.edu/~wjarosz/publications/sawhneyseyb22gridfree.html" TargetMode="External"/><Relationship Id="rId2" Type="http://schemas.openxmlformats.org/officeDocument/2006/relationships/hyperlink" Target="https://www.cs.cmu.edu/~kmcrane/Projects/MonteCarloGeometryProcessing/index.html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axGermain/MultistepBSDE" TargetMode="External"/><Relationship Id="rId2" Type="http://schemas.openxmlformats.org/officeDocument/2006/relationships/hyperlink" Target="https://www.cs.cmu.edu/~kmcrane/Projects/MonteCarloGeometryProcessing/index.html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hyperlink" Target="https://github.com/frankhan91/DeepBSDE" TargetMode="Externa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489DC2-D1AC-FD8C-7A92-02E3634627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041400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US" dirty="0"/>
              <a:t>Non-deterministic PDE Solver with Machine Learning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601A7B-2607-3F5C-DE39-61EDBE50A8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02076"/>
            <a:ext cx="9144000" cy="1655762"/>
          </a:xfrm>
        </p:spPr>
        <p:txBody>
          <a:bodyPr/>
          <a:lstStyle/>
          <a:p>
            <a:r>
              <a:rPr lang="en-US" dirty="0"/>
              <a:t>future schedule and potential projects</a:t>
            </a:r>
          </a:p>
          <a:p>
            <a:r>
              <a:rPr lang="en-US" dirty="0" err="1"/>
              <a:t>Silei</a:t>
            </a:r>
            <a:r>
              <a:rPr lang="en-US" dirty="0"/>
              <a:t> Song</a:t>
            </a:r>
          </a:p>
        </p:txBody>
      </p:sp>
    </p:spTree>
    <p:extLst>
      <p:ext uri="{BB962C8B-B14F-4D97-AF65-F5344CB8AC3E}">
        <p14:creationId xmlns:p14="http://schemas.microsoft.com/office/powerpoint/2010/main" val="13636461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95E22F-7E8E-F0B1-1A82-BBE0468A48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50104"/>
            <a:ext cx="10515600" cy="1325563"/>
          </a:xfrm>
        </p:spPr>
        <p:txBody>
          <a:bodyPr/>
          <a:lstStyle/>
          <a:p>
            <a:r>
              <a:rPr lang="en-US" dirty="0"/>
              <a:t>Reading List – for </a:t>
            </a:r>
            <a:r>
              <a:rPr lang="en-US" dirty="0" err="1"/>
              <a:t>WoS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3723FF-48E7-1F00-F2DA-7BD127AF86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02083"/>
            <a:ext cx="10515600" cy="5768235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Walk on Spheres basic: </a:t>
            </a:r>
          </a:p>
          <a:p>
            <a:pPr lvl="1"/>
            <a:r>
              <a:rPr lang="en-US" dirty="0"/>
              <a:t>Mervin E. Muller. “Some Continuous Monte Carlo Methods for the Dirichlet Problem”. </a:t>
            </a:r>
          </a:p>
          <a:p>
            <a:pPr marL="457200" lvl="1" indent="0">
              <a:buNone/>
            </a:pPr>
            <a:r>
              <a:rPr lang="en-US" dirty="0"/>
              <a:t>Original Walk on Sphere, learn the algorithm process</a:t>
            </a:r>
          </a:p>
          <a:p>
            <a:pPr lvl="1"/>
            <a:r>
              <a:rPr lang="en-US" dirty="0"/>
              <a:t>B.S. </a:t>
            </a:r>
            <a:r>
              <a:rPr lang="en-US" dirty="0" err="1"/>
              <a:t>Elepov</a:t>
            </a:r>
            <a:r>
              <a:rPr lang="en-US" dirty="0"/>
              <a:t> and G.A. Mikhailov. “Solution of the </a:t>
            </a:r>
            <a:r>
              <a:rPr lang="en-US" dirty="0" err="1"/>
              <a:t>dirichlet</a:t>
            </a:r>
            <a:r>
              <a:rPr lang="en-US" dirty="0"/>
              <a:t> problem for the equation</a:t>
            </a:r>
            <a:br>
              <a:rPr lang="en-US" dirty="0"/>
            </a:br>
            <a:r>
              <a:rPr lang="en-US" dirty="0"/>
              <a:t>∆u − cu = q by a model of "walks on spheres"”. </a:t>
            </a:r>
          </a:p>
          <a:p>
            <a:pPr marL="457200" lvl="1" indent="0">
              <a:buNone/>
            </a:pPr>
            <a:r>
              <a:rPr lang="en-US" dirty="0"/>
              <a:t>Sample inside to solve the source term, for Poisson equation</a:t>
            </a:r>
          </a:p>
          <a:p>
            <a:r>
              <a:rPr lang="en-US" dirty="0"/>
              <a:t>Walk on Spheres implementation: Rohan &amp; Keenan’s work</a:t>
            </a:r>
          </a:p>
          <a:p>
            <a:pPr lvl="1"/>
            <a:r>
              <a:rPr lang="en-US" dirty="0"/>
              <a:t>Rohan Sawhney and Keenan Crane. “Monte Carlo geometry processing: a grid-free approach to PDE-based methods on volumetric domains”. </a:t>
            </a:r>
          </a:p>
          <a:p>
            <a:pPr marL="457200" lvl="1" indent="0">
              <a:buNone/>
            </a:pPr>
            <a:r>
              <a:rPr lang="en-US" dirty="0"/>
              <a:t>A simple implementation of </a:t>
            </a:r>
            <a:r>
              <a:rPr lang="en-US" dirty="0" err="1"/>
              <a:t>WoS</a:t>
            </a:r>
            <a:r>
              <a:rPr lang="en-US" dirty="0"/>
              <a:t> in geometry processing. </a:t>
            </a:r>
          </a:p>
          <a:p>
            <a:pPr marL="457200" lvl="1" indent="0">
              <a:buNone/>
            </a:pPr>
            <a:r>
              <a:rPr lang="en-US" dirty="0"/>
              <a:t>Code: </a:t>
            </a:r>
            <a:r>
              <a:rPr lang="en-US" sz="2200" dirty="0">
                <a:hlinkClick r:id="rId2"/>
              </a:rPr>
              <a:t>https://www.cs.cmu.edu/~kmcrane/Projects/MonteCarloGeometryProcessing/index.html</a:t>
            </a:r>
            <a:endParaRPr lang="en-US" sz="2200" dirty="0"/>
          </a:p>
          <a:p>
            <a:pPr lvl="1"/>
            <a:r>
              <a:rPr lang="en-US" dirty="0"/>
              <a:t>Rohan Sawhney et al. Grid-Free Monte Carlo for PDEs with Spatially Varying Coefficients. </a:t>
            </a:r>
          </a:p>
          <a:p>
            <a:pPr marL="457200" lvl="1" indent="0">
              <a:buNone/>
            </a:pPr>
            <a:r>
              <a:rPr lang="en-US" dirty="0"/>
              <a:t>With more complete implementation codes, including adaptive sampling and more examples and details.</a:t>
            </a:r>
          </a:p>
          <a:p>
            <a:pPr marL="457200" lvl="1" indent="0">
              <a:buNone/>
            </a:pPr>
            <a:r>
              <a:rPr lang="en-US" dirty="0"/>
              <a:t>Code: </a:t>
            </a:r>
            <a:r>
              <a:rPr lang="en-US" dirty="0">
                <a:hlinkClick r:id="rId3"/>
              </a:rPr>
              <a:t>https://cs.dartmouth.edu/~wjarosz/publications/sawhneyseyb22gridfree.html</a:t>
            </a:r>
            <a:r>
              <a:rPr lang="en-US" dirty="0"/>
              <a:t> 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8869230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348FAA-B121-482D-5A47-C2D6D48349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723"/>
            <a:ext cx="10515600" cy="1325563"/>
          </a:xfrm>
        </p:spPr>
        <p:txBody>
          <a:bodyPr/>
          <a:lstStyle/>
          <a:p>
            <a:r>
              <a:rPr lang="en-US" dirty="0"/>
              <a:t>Reading List – for NN in time discretization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6A370F-1354-AD1C-076A-0777A8437C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27552"/>
            <a:ext cx="10515600" cy="5517714"/>
          </a:xfrm>
        </p:spPr>
        <p:txBody>
          <a:bodyPr>
            <a:normAutofit fontScale="92500" lnSpcReduction="20000"/>
          </a:bodyPr>
          <a:lstStyle/>
          <a:p>
            <a:r>
              <a:rPr lang="en-US" altLang="zh-CN" dirty="0"/>
              <a:t>PDE – BSDE: </a:t>
            </a:r>
          </a:p>
          <a:p>
            <a:pPr lvl="1"/>
            <a:r>
              <a:rPr lang="en-US" altLang="zh-CN" dirty="0" err="1"/>
              <a:t>Shizuo</a:t>
            </a:r>
            <a:r>
              <a:rPr lang="en-US" altLang="zh-CN" dirty="0"/>
              <a:t> Kakutani. “Two-dimensional Brownian motion and harmonic functions”. </a:t>
            </a:r>
          </a:p>
          <a:p>
            <a:pPr lvl="1"/>
            <a:r>
              <a:rPr lang="en-US" altLang="zh-CN" dirty="0"/>
              <a:t>Feynman Kac formula</a:t>
            </a:r>
            <a:r>
              <a:rPr lang="zh-CN" altLang="en-US" dirty="0"/>
              <a:t> </a:t>
            </a:r>
            <a:r>
              <a:rPr lang="en-US" altLang="zh-CN" dirty="0"/>
              <a:t>and Ito’s process</a:t>
            </a:r>
          </a:p>
          <a:p>
            <a:pPr lvl="1"/>
            <a:r>
              <a:rPr lang="en-US" altLang="zh-CN" dirty="0"/>
              <a:t>E. </a:t>
            </a:r>
            <a:r>
              <a:rPr lang="en-US" altLang="zh-CN" dirty="0" err="1"/>
              <a:t>Pardoux</a:t>
            </a:r>
            <a:r>
              <a:rPr lang="en-US" altLang="zh-CN" dirty="0"/>
              <a:t> and S.G. Peng. “Adapted solution of a backward stochastic differential equation” </a:t>
            </a:r>
          </a:p>
          <a:p>
            <a:pPr marL="457200" lvl="1" indent="0">
              <a:buNone/>
            </a:pPr>
            <a:r>
              <a:rPr lang="en-US" altLang="zh-CN" dirty="0"/>
              <a:t>PDE – BSDE, definition of BSDE</a:t>
            </a:r>
          </a:p>
          <a:p>
            <a:pPr lvl="1"/>
            <a:r>
              <a:rPr lang="en-US" altLang="zh-CN" dirty="0"/>
              <a:t>fully non-linear parabolic PDE – 2BSDE</a:t>
            </a:r>
          </a:p>
          <a:p>
            <a:r>
              <a:rPr lang="en-US" altLang="zh-CN" dirty="0"/>
              <a:t>Single Stacked Neural Network:</a:t>
            </a:r>
          </a:p>
          <a:p>
            <a:pPr lvl="1"/>
            <a:r>
              <a:rPr lang="en-US" altLang="zh-CN" dirty="0" err="1"/>
              <a:t>Jiequn</a:t>
            </a:r>
            <a:r>
              <a:rPr lang="en-US" altLang="zh-CN" dirty="0"/>
              <a:t> Han, Arnulf </a:t>
            </a:r>
            <a:r>
              <a:rPr lang="en-US" altLang="zh-CN" dirty="0" err="1"/>
              <a:t>Jentzen</a:t>
            </a:r>
            <a:r>
              <a:rPr lang="en-US" altLang="zh-CN" dirty="0"/>
              <a:t>, and </a:t>
            </a:r>
            <a:r>
              <a:rPr lang="en-US" altLang="zh-CN" dirty="0" err="1"/>
              <a:t>Weinan</a:t>
            </a:r>
            <a:r>
              <a:rPr lang="en-US" altLang="zh-CN" dirty="0"/>
              <a:t> E. “Solving high-dimensional partial differential equations using deep learning”. </a:t>
            </a:r>
          </a:p>
          <a:p>
            <a:pPr marL="457200" lvl="1" indent="0">
              <a:buNone/>
            </a:pPr>
            <a:r>
              <a:rPr lang="en-US" altLang="zh-CN" dirty="0"/>
              <a:t>semi-linear PDE to BSDE and time discretization</a:t>
            </a:r>
          </a:p>
          <a:p>
            <a:r>
              <a:rPr lang="en-US" dirty="0"/>
              <a:t>Dynamic Programming Deep Learning</a:t>
            </a:r>
          </a:p>
          <a:p>
            <a:pPr lvl="1"/>
            <a:r>
              <a:rPr lang="en-US" dirty="0"/>
              <a:t>Come </a:t>
            </a:r>
            <a:r>
              <a:rPr lang="en-US" dirty="0" err="1"/>
              <a:t>Hure</a:t>
            </a:r>
            <a:r>
              <a:rPr lang="en-US" dirty="0"/>
              <a:t>, </a:t>
            </a:r>
            <a:r>
              <a:rPr lang="en-US" dirty="0" err="1"/>
              <a:t>Huyen</a:t>
            </a:r>
            <a:r>
              <a:rPr lang="en-US" dirty="0"/>
              <a:t> Pham, and Xavier </a:t>
            </a:r>
            <a:r>
              <a:rPr lang="en-US" dirty="0" err="1"/>
              <a:t>Warin</a:t>
            </a:r>
            <a:r>
              <a:rPr lang="en-US" dirty="0"/>
              <a:t>. “Deep backward schemes for high-dimensional nonlinear PDEs” </a:t>
            </a:r>
          </a:p>
          <a:p>
            <a:pPr marL="457200" lvl="1" indent="0">
              <a:buNone/>
            </a:pPr>
            <a:r>
              <a:rPr lang="en-US" dirty="0"/>
              <a:t>backward propagation of time discretization</a:t>
            </a:r>
          </a:p>
          <a:p>
            <a:pPr lvl="1"/>
            <a:r>
              <a:rPr lang="en-US" dirty="0"/>
              <a:t>Maximilien Germain, </a:t>
            </a:r>
            <a:r>
              <a:rPr lang="en-US" dirty="0" err="1"/>
              <a:t>Huyen</a:t>
            </a:r>
            <a:r>
              <a:rPr lang="en-US" dirty="0"/>
              <a:t> Pham, and Xavier </a:t>
            </a:r>
            <a:r>
              <a:rPr lang="en-US" dirty="0" err="1"/>
              <a:t>Warin</a:t>
            </a:r>
            <a:r>
              <a:rPr lang="en-US" dirty="0"/>
              <a:t>. “Approximation error analysis of some deep backward schemes for nonlinear PDEs”. </a:t>
            </a:r>
          </a:p>
          <a:p>
            <a:pPr marL="457200" lvl="1" indent="0">
              <a:buNone/>
            </a:pPr>
            <a:r>
              <a:rPr lang="en-US" dirty="0"/>
              <a:t>multi-step idea</a:t>
            </a:r>
          </a:p>
          <a:p>
            <a:pPr marL="457200" lvl="1" indent="0">
              <a:buNone/>
            </a:pPr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8852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5B5BF-F38F-F9C6-2C9D-BF0CCFE6BA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/>
              <a:t>Project 1: </a:t>
            </a:r>
            <a:r>
              <a:rPr lang="en-US" dirty="0" err="1"/>
              <a:t>WoS</a:t>
            </a:r>
            <a:r>
              <a:rPr lang="en-US" dirty="0"/>
              <a:t> with NN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00B0104-5C3F-198B-B5C5-BB1A1C3C102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27551"/>
                <a:ext cx="10515600" cy="5630449"/>
              </a:xfrm>
            </p:spPr>
            <p:txBody>
              <a:bodyPr>
                <a:normAutofit fontScale="77500" lnSpcReduction="20000"/>
              </a:bodyPr>
              <a:lstStyle/>
              <a:p>
                <a:r>
                  <a:rPr lang="en-US" dirty="0"/>
                  <a:t>for Laplace equation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m:rPr>
                                  <m:sty m:val="p"/>
                                </m:rPr>
                                <a:rPr lang="el-GR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𝑢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=0    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m:rPr>
                                  <m:sty m:val="p"/>
                                </m:rPr>
                                <a:rPr lang="el-G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Ω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         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m:rPr>
                                  <m:sty m:val="p"/>
                                </m:rPr>
                                <a:rPr lang="el-G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Ω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Based on Ito’s Lemma(2</a:t>
                </a:r>
                <a:r>
                  <a:rPr lang="en-US" baseline="30000" dirty="0"/>
                  <a:t>nd</a:t>
                </a:r>
                <a:r>
                  <a:rPr lang="en-US" dirty="0"/>
                  <a:t>-order Taylor expansion), for any Brownian motion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/>
                  <a:t> start from specific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,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𝑑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m:rPr>
                          <m:sty m:val="p"/>
                        </m:rPr>
                        <a:rPr lang="el-G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Δ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 </m:t>
                      </m:r>
                      <m:r>
                        <m:rPr>
                          <m:sty m:val="p"/>
                        </m:rP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∇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Δ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b="0" dirty="0">
                    <a:ea typeface="Cambria Math" panose="02040503050406030204" pitchFamily="18" charset="0"/>
                  </a:rPr>
                  <a:t>,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 </m:t>
                      </m:r>
                      <m:r>
                        <m:rPr>
                          <m:sty m:val="p"/>
                        </m:rP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∇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sub>
                          </m:sSub>
                        </m:e>
                      </m:d>
                      <m:r>
                        <m:rPr>
                          <m:sty m:val="p"/>
                        </m:rPr>
                        <a:rPr lang="el-G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lang="el-G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sSub>
                            <m:sSubPr>
                              <m:ctrlPr>
                                <a:rPr lang="el-G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</m:sub>
                      </m:sSub>
                      <m: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while</m:t>
                      </m:r>
                      <m: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l-G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lang="el-G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sSub>
                            <m:sSubPr>
                              <m:ctrlPr>
                                <a:rPr lang="el-G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l-G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sSub>
                            <m:sSubPr>
                              <m:ctrlPr>
                                <a:rPr lang="el-G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−</m:t>
                      </m:r>
                      <m:sSub>
                        <m:sSubPr>
                          <m:ctrlPr>
                            <a:rPr lang="el-G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sSub>
                            <m:sSubPr>
                              <m:ctrlPr>
                                <a:rPr lang="el-G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~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(0, </m:t>
                      </m:r>
                      <m:r>
                        <m:rPr>
                          <m:sty m:val="p"/>
                        </m:rPr>
                        <a:rPr lang="el-G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Δ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Use single neural network to approximate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∇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𝑢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𝑍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(∙,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𝑢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)+ 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m:rPr>
                              <m:brk m:alnAt="7"/>
                            </m:r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&lt;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sub>
                        <m:sup/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𝑍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a:rPr lang="el-GR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Δ</m:t>
                          </m:r>
                          <m:sSub>
                            <m:sSubPr>
                              <m:ctrlPr>
                                <a:rPr lang="el-G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l-G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</m:sub>
                          </m:sSub>
                        </m:e>
                      </m:nary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sub>
                    </m:sSub>
                  </m:oMath>
                </a14:m>
                <a:r>
                  <a:rPr lang="en-US" dirty="0"/>
                  <a:t> is the exit point 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𝜕</m:t>
                    </m:r>
                    <m:r>
                      <m:rPr>
                        <m:sty m:val="p"/>
                      </m:rPr>
                      <a:rPr lang="el-G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en-US" dirty="0"/>
                  <a:t> is the exit time</a:t>
                </a:r>
              </a:p>
              <a:p>
                <a:r>
                  <a:rPr lang="en-US" dirty="0"/>
                  <a:t>The loss function is: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Ε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[</m:t>
                      </m:r>
                      <m:sSup>
                        <m:sSupPr>
                          <m:ctrlPr>
                            <a:rPr lang="el-G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𝑔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)|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with different Brownian motions from different start places as training inputs.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00B0104-5C3F-198B-B5C5-BB1A1C3C102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27551"/>
                <a:ext cx="10515600" cy="5630449"/>
              </a:xfrm>
              <a:blipFill>
                <a:blip r:embed="rId2"/>
                <a:stretch>
                  <a:fillRect l="-724" t="-27027" b="-4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596809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5A54AE-9F62-0324-5376-01AC00D650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9982"/>
            <a:ext cx="10515600" cy="1325563"/>
          </a:xfrm>
        </p:spPr>
        <p:txBody>
          <a:bodyPr/>
          <a:lstStyle/>
          <a:p>
            <a:r>
              <a:rPr lang="en-US" dirty="0"/>
              <a:t>Project 1: </a:t>
            </a:r>
            <a:r>
              <a:rPr lang="en-US" dirty="0" err="1"/>
              <a:t>WoS</a:t>
            </a:r>
            <a:r>
              <a:rPr lang="en-US" dirty="0"/>
              <a:t> with NN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81639BF-7A7B-FBA6-5871-2E0E0CA84BF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75667"/>
                <a:ext cx="10623115" cy="5392455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US" dirty="0"/>
                  <a:t>The previous is the classic time discretization method.</a:t>
                </a:r>
              </a:p>
              <a:p>
                <a:r>
                  <a:rPr lang="en-US" dirty="0"/>
                  <a:t>When working on elliptic problems, a fact is that PDEs are not based on time. With the Laplace operator, the stochastic process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/>
                  <a:t> is not accumulated along time, but along space (along the Brownian motion).</a:t>
                </a:r>
              </a:p>
              <a:p>
                <a:r>
                  <a:rPr lang="en-US" dirty="0"/>
                  <a:t>Rather than to discretize by time, discretize by the Brownian motion (by space).</a:t>
                </a:r>
              </a:p>
              <a:p>
                <a:r>
                  <a:rPr lang="en-US" dirty="0"/>
                  <a:t>One discretization is </a:t>
                </a:r>
                <a:r>
                  <a:rPr lang="en-US" dirty="0" err="1"/>
                  <a:t>WoS</a:t>
                </a:r>
                <a:r>
                  <a:rPr lang="en-US" dirty="0"/>
                  <a:t>, which discretize the process by exit points on spheres.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dirty="0"/>
                  <a:t> as the exit point of </a:t>
                </a:r>
                <a:r>
                  <a:rPr lang="en-US" dirty="0" err="1"/>
                  <a:t>i-th</a:t>
                </a:r>
                <a:r>
                  <a:rPr lang="en-US" dirty="0"/>
                  <a:t> sphere,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is the exit time of </a:t>
                </a:r>
                <a:r>
                  <a:rPr lang="en-US" dirty="0" err="1"/>
                  <a:t>i-th</a:t>
                </a:r>
                <a:r>
                  <a:rPr lang="en-US" dirty="0"/>
                  <a:t> sphere.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Δ</m:t>
                    </m:r>
                    <m:sSub>
                      <m:sSubPr>
                        <m:ctrlPr>
                          <a:rPr lang="el-G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sSub>
                          <m:sSubPr>
                            <m:ctrlPr>
                              <a:rPr lang="el-G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dirty="0"/>
                  <a:t> is now the radius of </a:t>
                </a:r>
                <a:r>
                  <a:rPr lang="en-US" dirty="0" err="1"/>
                  <a:t>i-th</a:t>
                </a:r>
                <a:r>
                  <a:rPr lang="en-US" dirty="0"/>
                  <a:t> sphere. </a:t>
                </a:r>
              </a:p>
              <a:p>
                <a:r>
                  <a:rPr lang="en-US" dirty="0"/>
                  <a:t>Completely avoid the effect brought by time of the random process.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Δ</m:t>
                    </m:r>
                    <m:sSub>
                      <m:sSubPr>
                        <m:ctrlPr>
                          <a:rPr lang="el-G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is not in the equation, thus large steps will not affect the accuracy. </a:t>
                </a:r>
              </a:p>
              <a:p>
                <a:r>
                  <a:rPr lang="en-US" dirty="0"/>
                  <a:t>Comparing to original </a:t>
                </a:r>
                <a:r>
                  <a:rPr lang="en-US" dirty="0" err="1"/>
                  <a:t>WoS</a:t>
                </a:r>
                <a:r>
                  <a:rPr lang="en-US" dirty="0"/>
                  <a:t>, this gives a global solution with gradient approximation.</a:t>
                </a:r>
              </a:p>
              <a:p>
                <a:r>
                  <a:rPr lang="en-US" dirty="0"/>
                  <a:t>Approximate gradient with NN rather than to use solution’s direct derivative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81639BF-7A7B-FBA6-5871-2E0E0CA84BF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75667"/>
                <a:ext cx="10623115" cy="5392455"/>
              </a:xfrm>
              <a:blipFill>
                <a:blip r:embed="rId2"/>
                <a:stretch>
                  <a:fillRect l="-956" t="-2353" r="-1314" b="-23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531680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CA91FB-B06F-76FC-F087-E67339B3A8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1: </a:t>
            </a:r>
            <a:r>
              <a:rPr lang="en-US" dirty="0" err="1"/>
              <a:t>WoS</a:t>
            </a:r>
            <a:r>
              <a:rPr lang="en-US" dirty="0"/>
              <a:t> with NN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30F32CD-BF48-4617-51B2-53E16452CAB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30347" y="1933282"/>
            <a:ext cx="8131305" cy="4464826"/>
          </a:xfrm>
        </p:spPr>
      </p:pic>
    </p:spTree>
    <p:extLst>
      <p:ext uri="{BB962C8B-B14F-4D97-AF65-F5344CB8AC3E}">
        <p14:creationId xmlns:p14="http://schemas.microsoft.com/office/powerpoint/2010/main" val="39414285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9AEEDE-F4D6-B096-12D0-254B0AB4D1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31849"/>
            <a:ext cx="10515600" cy="1325563"/>
          </a:xfrm>
        </p:spPr>
        <p:txBody>
          <a:bodyPr/>
          <a:lstStyle/>
          <a:p>
            <a:r>
              <a:rPr lang="en-US" dirty="0"/>
              <a:t>Project 1: </a:t>
            </a:r>
            <a:r>
              <a:rPr lang="en-US" dirty="0" err="1"/>
              <a:t>WoS</a:t>
            </a:r>
            <a:r>
              <a:rPr lang="en-US" dirty="0"/>
              <a:t> with NN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F25649D-4B3D-9B7B-BB43-64313A3D174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52603"/>
                <a:ext cx="10515600" cy="5687350"/>
              </a:xfrm>
            </p:spPr>
            <p:txBody>
              <a:bodyPr>
                <a:normAutofit fontScale="77500" lnSpcReduction="20000"/>
              </a:bodyPr>
              <a:lstStyle/>
              <a:p>
                <a:r>
                  <a:rPr lang="en-US" dirty="0"/>
                  <a:t>Other 2</a:t>
                </a:r>
                <a:r>
                  <a:rPr lang="en-US" baseline="30000" dirty="0"/>
                  <a:t>nd</a:t>
                </a:r>
                <a:r>
                  <a:rPr lang="en-US" dirty="0"/>
                  <a:t>-order elliptic equations with Laplace (Poisson here)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m:rPr>
                                  <m:sty m:val="p"/>
                                </m:rPr>
                                <a:rPr lang="el-GR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𝑢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   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m:rPr>
                                  <m:sty m:val="p"/>
                                </m:rPr>
                                <a:rPr lang="el-G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Ω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         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m:rPr>
                                  <m:sty m:val="p"/>
                                </m:rPr>
                                <a:rPr lang="el-G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Ω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The source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term was associated with time in Feynman-Kac formula: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l-G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Ε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𝑔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𝜏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 </m:t>
                      </m:r>
                      <m:r>
                        <m:rPr>
                          <m:sty m:val="p"/>
                        </m:rPr>
                        <a:rPr lang="el-G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Ε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[</m:t>
                      </m:r>
                      <m:nary>
                        <m:nary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sup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𝑑𝑡</m:t>
                          </m:r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nary>
                        <m:nary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sub>
                        <m:sup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</m:sup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𝑑𝑡</m:t>
                          </m:r>
                        </m:e>
                      </m:nary>
                      <m:r>
                        <a:rPr lang="en-US" i="1">
                          <a:latin typeface="Cambria Math" panose="02040503050406030204" pitchFamily="18" charset="0"/>
                        </a:rPr>
                        <m:t>+ </m:t>
                      </m:r>
                      <m:r>
                        <m:rPr>
                          <m:sty m:val="p"/>
                        </m:rP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∇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sub>
                          </m:sSub>
                        </m:e>
                      </m:d>
                      <m:r>
                        <m:rPr>
                          <m:sty m:val="p"/>
                        </m:rPr>
                        <a:rPr lang="el-G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sSub>
                            <m:sSubPr>
                              <m:ctrlPr>
                                <a:rPr lang="el-G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which include the gap of time -&gt; requires small time steps</a:t>
                </a:r>
              </a:p>
              <a:p>
                <a:r>
                  <a:rPr lang="en-US" dirty="0" err="1"/>
                  <a:t>WoS</a:t>
                </a:r>
                <a:r>
                  <a:rPr lang="en-US" dirty="0"/>
                  <a:t> for Poisson equation enables us to estimate the source term contribution by in-ball samples, without accumulate it along the process time.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)(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+ </m:t>
                      </m:r>
                      <m:r>
                        <m:rPr>
                          <m:sty m:val="p"/>
                        </m:rP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∇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sub>
                          </m:sSub>
                        </m:e>
                      </m:d>
                      <m:r>
                        <m:rPr>
                          <m:sty m:val="p"/>
                        </m:rPr>
                        <a:rPr lang="el-G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sSub>
                            <m:sSubPr>
                              <m:ctrlPr>
                                <a:rPr lang="el-G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is the exit time of </a:t>
                </a:r>
                <a:r>
                  <a:rPr lang="en-US" dirty="0" err="1"/>
                  <a:t>i-th</a:t>
                </a:r>
                <a:r>
                  <a:rPr lang="en-US" dirty="0"/>
                  <a:t> ball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is the in-ball sample of </a:t>
                </a:r>
                <a:r>
                  <a:rPr lang="en-US" dirty="0" err="1"/>
                  <a:t>i-th</a:t>
                </a:r>
                <a:r>
                  <a:rPr lang="en-US" dirty="0"/>
                  <a:t> sphere</a:t>
                </a:r>
              </a:p>
              <a:p>
                <a:r>
                  <a:rPr lang="en-US" dirty="0"/>
                  <a:t>Does Green’s should be included in the source term contribution? How?</a:t>
                </a:r>
              </a:p>
              <a:p>
                <a:r>
                  <a:rPr lang="en-US" dirty="0"/>
                  <a:t>Sampling of time gap, error control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F25649D-4B3D-9B7B-BB43-64313A3D174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52603"/>
                <a:ext cx="10515600" cy="5687350"/>
              </a:xfrm>
              <a:blipFill>
                <a:blip r:embed="rId2"/>
                <a:stretch>
                  <a:fillRect l="-724" t="-267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751649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EC234-334C-840F-A01E-357E2A7E0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4153"/>
            <a:ext cx="10515600" cy="1325563"/>
          </a:xfrm>
        </p:spPr>
        <p:txBody>
          <a:bodyPr/>
          <a:lstStyle/>
          <a:p>
            <a:r>
              <a:rPr lang="en-US" dirty="0"/>
              <a:t>Project 1: </a:t>
            </a:r>
            <a:r>
              <a:rPr lang="en-US" dirty="0" err="1"/>
              <a:t>WoS</a:t>
            </a:r>
            <a:r>
              <a:rPr lang="en-US" dirty="0"/>
              <a:t> with NN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7A34079-6814-DCC3-5E81-BE8318D9BC1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90688"/>
                <a:ext cx="10515600" cy="4973159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Improve to Ito’s process rather</a:t>
                </a:r>
                <a:r>
                  <a:rPr lang="zh-CN" altLang="en-US" dirty="0"/>
                  <a:t> </a:t>
                </a:r>
                <a:r>
                  <a:rPr lang="en-US" dirty="0"/>
                  <a:t>than simple Brownian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𝑑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acc>
                        <m:accPr>
                          <m:chr m:val="⃗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</m:acc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𝑑𝑡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ad>
                        <m:radPr>
                          <m:deg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ra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𝑑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In parabolic problem this solves the coefficients of gradient. Could it solve the coefficient also in elliptic problems?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m:rPr>
                                  <m:sty m:val="p"/>
                                </m:rPr>
                                <a:rPr lang="el-G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∇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𝛼</m:t>
                                  </m:r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  <m:r>
                                    <m:rPr>
                                      <m:sty m:val="p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∇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𝑢</m:t>
                                  </m:r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acc>
                                <m:accPr>
                                  <m:chr m:val="⃗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</m:acc>
                              <m:r>
                                <m:rPr>
                                  <m:sty m:val="p"/>
                                </m:r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∇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𝑢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𝑢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   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m:rPr>
                                  <m:sty m:val="p"/>
                                </m:rPr>
                                <a:rPr lang="el-G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Ω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     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   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m:rPr>
                                  <m:sty m:val="p"/>
                                </m:rPr>
                                <a:rPr lang="el-G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Ω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To solve the varying coefficients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acc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𝜎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endParaRPr lang="en-US" dirty="0">
                  <a:ea typeface="Cambria Math" panose="02040503050406030204" pitchFamily="18" charset="0"/>
                </a:endParaRPr>
              </a:p>
              <a:p>
                <a:r>
                  <a:rPr lang="en-US" dirty="0"/>
                  <a:t>How could this work without Laplace operator?</a:t>
                </a:r>
              </a:p>
              <a:p>
                <a:r>
                  <a:rPr lang="en-US" dirty="0"/>
                  <a:t>Different samplings</a:t>
                </a:r>
              </a:p>
              <a:p>
                <a:r>
                  <a:rPr lang="en-US" dirty="0"/>
                  <a:t>High dimensional geometries (curse of dimensionality in sampling?)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7A34079-6814-DCC3-5E81-BE8318D9BC1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90688"/>
                <a:ext cx="10515600" cy="4973159"/>
              </a:xfrm>
              <a:blipFill>
                <a:blip r:embed="rId2"/>
                <a:stretch>
                  <a:fillRect l="-4704" t="-17557" b="-307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398729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EA3BEC-37EC-4CF7-540F-3D0801BF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9774"/>
            <a:ext cx="10515600" cy="1325563"/>
          </a:xfrm>
        </p:spPr>
        <p:txBody>
          <a:bodyPr/>
          <a:lstStyle/>
          <a:p>
            <a:r>
              <a:rPr lang="en-US" dirty="0"/>
              <a:t>Project 1: </a:t>
            </a:r>
            <a:r>
              <a:rPr lang="en-US" dirty="0" err="1"/>
              <a:t>WoS</a:t>
            </a:r>
            <a:r>
              <a:rPr lang="en-US" dirty="0"/>
              <a:t> with NN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E2B4D15-1EFB-71C8-4D1D-92F68E0A108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40078"/>
                <a:ext cx="10515600" cy="557814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Difficulties: </a:t>
                </a:r>
              </a:p>
              <a:p>
                <a:pPr lvl="1"/>
                <a:r>
                  <a:rPr lang="en-US" dirty="0"/>
                  <a:t>Coordinate with source term and other deformed elliptic PDEs.</a:t>
                </a:r>
              </a:p>
              <a:p>
                <a:pPr lvl="1"/>
                <a:r>
                  <a:rPr lang="en-US" dirty="0"/>
                  <a:t>exit sphere time sampling for source term accumulation</a:t>
                </a:r>
              </a:p>
              <a:p>
                <a:pPr lvl="1"/>
                <a:r>
                  <a:rPr lang="en-US" dirty="0"/>
                  <a:t>error control with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dirty="0"/>
                  <a:t>-shell</a:t>
                </a:r>
              </a:p>
              <a:p>
                <a:pPr lvl="1"/>
                <a:r>
                  <a:rPr lang="en-US" dirty="0"/>
                  <a:t>no promised effect &amp; implementation (motion approximation in graphics?)</a:t>
                </a:r>
              </a:p>
              <a:p>
                <a:r>
                  <a:rPr lang="en-US" dirty="0"/>
                  <a:t>preparation code </a:t>
                </a:r>
              </a:p>
              <a:p>
                <a:pPr lvl="1"/>
                <a:r>
                  <a:rPr lang="en-US" dirty="0"/>
                  <a:t>Rohan’s simple code: </a:t>
                </a:r>
                <a:r>
                  <a:rPr lang="en-US" sz="2000" dirty="0">
                    <a:hlinkClick r:id="rId2"/>
                  </a:rPr>
                  <a:t>https://www.cs.cmu.edu/~kmcrane/Projects/MonteCarloGeometryProcessing/index.html</a:t>
                </a:r>
                <a:endParaRPr lang="en-US" sz="2000" dirty="0"/>
              </a:p>
              <a:p>
                <a:pPr lvl="1"/>
                <a:r>
                  <a:rPr lang="en-US" dirty="0"/>
                  <a:t>Germain’s code: </a:t>
                </a:r>
                <a:r>
                  <a:rPr lang="en-US" dirty="0">
                    <a:hlinkClick r:id="rId3"/>
                  </a:rPr>
                  <a:t>https://github.com/MaxGermain/MultistepBSDE</a:t>
                </a:r>
                <a:r>
                  <a:rPr lang="en-US" dirty="0"/>
                  <a:t> </a:t>
                </a:r>
              </a:p>
              <a:p>
                <a:pPr lvl="1"/>
                <a:r>
                  <a:rPr lang="en-US" dirty="0"/>
                  <a:t>Han’s code: </a:t>
                </a:r>
                <a:r>
                  <a:rPr lang="en-US" dirty="0">
                    <a:hlinkClick r:id="rId4"/>
                  </a:rPr>
                  <a:t>https://github.com/frankhan91/DeepBSDE</a:t>
                </a:r>
                <a:r>
                  <a:rPr lang="en-US" dirty="0"/>
                  <a:t> </a:t>
                </a:r>
              </a:p>
              <a:p>
                <a:r>
                  <a:rPr lang="en-US" dirty="0"/>
                  <a:t>Implementation:</a:t>
                </a:r>
              </a:p>
              <a:p>
                <a:pPr lvl="1"/>
                <a:r>
                  <a:rPr lang="en-US" dirty="0"/>
                  <a:t>using in electronic conductor </a:t>
                </a:r>
                <a:r>
                  <a:rPr lang="en-US" dirty="0">
                    <a:sym typeface="Wingdings" pitchFamily="2" charset="2"/>
                  </a:rPr>
                  <a:t>(chips)</a:t>
                </a:r>
              </a:p>
              <a:p>
                <a:pPr lvl="1"/>
                <a:r>
                  <a:rPr lang="en-US" dirty="0">
                    <a:sym typeface="Wingdings" pitchFamily="2" charset="2"/>
                  </a:rPr>
                  <a:t>geometry processing in computer graphics</a:t>
                </a: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E2B4D15-1EFB-71C8-4D1D-92F68E0A108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40078"/>
                <a:ext cx="10515600" cy="5578148"/>
              </a:xfrm>
              <a:blipFill>
                <a:blip r:embed="rId5"/>
                <a:stretch>
                  <a:fillRect l="-1086" t="-18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833783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90A8E-D823-2B1F-2C22-5CC072C878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/>
              <a:t>Timeline and Things to do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BF470A-AC70-384B-66C8-77F3108FDA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39869"/>
            <a:ext cx="10515600" cy="5718132"/>
          </a:xfrm>
        </p:spPr>
        <p:txBody>
          <a:bodyPr>
            <a:normAutofit lnSpcReduction="10000"/>
          </a:bodyPr>
          <a:lstStyle/>
          <a:p>
            <a:r>
              <a:rPr lang="en-US" dirty="0"/>
              <a:t>math process details</a:t>
            </a:r>
          </a:p>
          <a:p>
            <a:pPr lvl="1"/>
            <a:r>
              <a:rPr lang="en-US" altLang="zh-CN" dirty="0"/>
              <a:t>the approximation with gradient for Laplace, Poisson, and Poisson </a:t>
            </a:r>
            <a:r>
              <a:rPr lang="en-US" altLang="zh-CN" dirty="0" err="1"/>
              <a:t>Boltzman</a:t>
            </a:r>
            <a:r>
              <a:rPr lang="en-US" altLang="zh-CN" dirty="0"/>
              <a:t>, do a table (original, expectation Feynman-Kac, Ito’s stochastic version, and approximation)</a:t>
            </a:r>
          </a:p>
          <a:p>
            <a:pPr lvl="1"/>
            <a:r>
              <a:rPr lang="en-US" dirty="0"/>
              <a:t>how to involve in-ball samplings with Green’s function? </a:t>
            </a:r>
          </a:p>
          <a:p>
            <a:r>
              <a:rPr lang="en-US" dirty="0"/>
              <a:t>coding:</a:t>
            </a:r>
          </a:p>
          <a:p>
            <a:pPr lvl="1"/>
            <a:r>
              <a:rPr lang="en-US" dirty="0"/>
              <a:t>read &amp; understand the NN codes (how to construct NN with random process input simulating PDEs)</a:t>
            </a:r>
            <a:r>
              <a:rPr lang="zh-CN" altLang="en-US" dirty="0"/>
              <a:t> </a:t>
            </a:r>
            <a:r>
              <a:rPr lang="en-US" altLang="zh-CN" dirty="0"/>
              <a:t>(long short time memory)</a:t>
            </a:r>
            <a:endParaRPr lang="en-US" dirty="0"/>
          </a:p>
          <a:p>
            <a:pPr lvl="1"/>
            <a:r>
              <a:rPr lang="en-US" dirty="0"/>
              <a:t>code this process on simple Rohan’s code for Laplace </a:t>
            </a:r>
            <a:r>
              <a:rPr lang="en-US" altLang="zh-CN" dirty="0"/>
              <a:t>(different programming language? final C++? )</a:t>
            </a:r>
            <a:endParaRPr lang="en-US" dirty="0"/>
          </a:p>
          <a:p>
            <a:pPr lvl="1"/>
            <a:r>
              <a:rPr lang="en-US" dirty="0"/>
              <a:t>improve to harder 2</a:t>
            </a:r>
            <a:r>
              <a:rPr lang="en-US" baseline="30000" dirty="0"/>
              <a:t>nd</a:t>
            </a:r>
            <a:r>
              <a:rPr lang="en-US" dirty="0"/>
              <a:t>-order elliptic with source terms</a:t>
            </a:r>
          </a:p>
          <a:p>
            <a:r>
              <a:rPr lang="en-US" dirty="0"/>
              <a:t>Test &amp; comparing to original </a:t>
            </a:r>
            <a:r>
              <a:rPr lang="en-US" dirty="0" err="1"/>
              <a:t>WoS</a:t>
            </a:r>
            <a:endParaRPr lang="en-US" dirty="0"/>
          </a:p>
          <a:p>
            <a:r>
              <a:rPr lang="en-US" dirty="0"/>
              <a:t>Move to harder elliptic problems with absorption, gradient, varying coefficients (Ito’s process instead of Brownian motion?)</a:t>
            </a:r>
          </a:p>
          <a:p>
            <a:r>
              <a:rPr lang="en-US" dirty="0"/>
              <a:t>Math proving and writing</a:t>
            </a:r>
          </a:p>
        </p:txBody>
      </p:sp>
    </p:spTree>
    <p:extLst>
      <p:ext uri="{BB962C8B-B14F-4D97-AF65-F5344CB8AC3E}">
        <p14:creationId xmlns:p14="http://schemas.microsoft.com/office/powerpoint/2010/main" val="26231250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37608A-2509-16AC-5EAD-10B3CC03AC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/>
              <a:t>Project 2: </a:t>
            </a:r>
            <a:r>
              <a:rPr lang="en-US" dirty="0" err="1"/>
              <a:t>WoS</a:t>
            </a:r>
            <a:r>
              <a:rPr lang="en-US" dirty="0"/>
              <a:t> library for Graphics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867E13-88FB-9A0C-E673-D713767B80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27551"/>
            <a:ext cx="10515600" cy="5630449"/>
          </a:xfrm>
        </p:spPr>
        <p:txBody>
          <a:bodyPr>
            <a:normAutofit lnSpcReduction="10000"/>
          </a:bodyPr>
          <a:lstStyle/>
          <a:p>
            <a:r>
              <a:rPr lang="en-US" dirty="0"/>
              <a:t>figure out the PDE needs in graphics</a:t>
            </a:r>
          </a:p>
          <a:p>
            <a:r>
              <a:rPr lang="en-US" dirty="0"/>
              <a:t>figure out how to write a library in C++</a:t>
            </a:r>
          </a:p>
          <a:p>
            <a:r>
              <a:rPr lang="en-US" dirty="0"/>
              <a:t>implement simple Laplace, Poisson, Poisson-</a:t>
            </a:r>
            <a:r>
              <a:rPr lang="en-US" dirty="0" err="1"/>
              <a:t>Boltzman</a:t>
            </a:r>
            <a:r>
              <a:rPr lang="en-US" dirty="0"/>
              <a:t> calculator in library for graphics, with polygon soup</a:t>
            </a:r>
          </a:p>
          <a:p>
            <a:r>
              <a:rPr lang="en-US" dirty="0"/>
              <a:t>Test library</a:t>
            </a:r>
          </a:p>
          <a:p>
            <a:r>
              <a:rPr lang="en-US" dirty="0"/>
              <a:t>Improvements on library</a:t>
            </a:r>
          </a:p>
          <a:p>
            <a:pPr lvl="1"/>
            <a:r>
              <a:rPr lang="en-US" dirty="0"/>
              <a:t>parallel sampling &amp; local calculation</a:t>
            </a:r>
          </a:p>
          <a:p>
            <a:pPr lvl="1"/>
            <a:r>
              <a:rPr lang="en-US" dirty="0" err="1"/>
              <a:t>WoS</a:t>
            </a:r>
            <a:r>
              <a:rPr lang="en-US" dirty="0"/>
              <a:t> </a:t>
            </a:r>
            <a:r>
              <a:rPr lang="en-US" dirty="0" err="1"/>
              <a:t>v.s</a:t>
            </a:r>
            <a:r>
              <a:rPr lang="en-US" dirty="0"/>
              <a:t>. FRW on other shapes, implemented on GPU</a:t>
            </a:r>
          </a:p>
          <a:p>
            <a:pPr lvl="1"/>
            <a:r>
              <a:rPr lang="en-US" dirty="0"/>
              <a:t>reuse previous samples on </a:t>
            </a:r>
            <a:r>
              <a:rPr lang="en-US" dirty="0" err="1"/>
              <a:t>WoS</a:t>
            </a:r>
            <a:r>
              <a:rPr lang="en-US" dirty="0"/>
              <a:t> paths with certain distribution</a:t>
            </a:r>
          </a:p>
          <a:p>
            <a:pPr lvl="1"/>
            <a:r>
              <a:rPr lang="en-US" dirty="0" err="1"/>
              <a:t>WoSt</a:t>
            </a:r>
            <a:endParaRPr lang="en-US" dirty="0"/>
          </a:p>
          <a:p>
            <a:pPr lvl="1"/>
            <a:r>
              <a:rPr lang="en-US" dirty="0"/>
              <a:t>varying coefficients</a:t>
            </a:r>
          </a:p>
          <a:p>
            <a:pPr lvl="1"/>
            <a:r>
              <a:rPr lang="en-US" dirty="0" err="1"/>
              <a:t>fcwp</a:t>
            </a:r>
            <a:r>
              <a:rPr lang="en-US" dirty="0"/>
              <a:t> &amp; BVH work with </a:t>
            </a:r>
            <a:r>
              <a:rPr lang="en-US" dirty="0" err="1"/>
              <a:t>WoS</a:t>
            </a:r>
            <a:endParaRPr lang="en-US" dirty="0"/>
          </a:p>
          <a:p>
            <a:pPr lvl="1"/>
            <a:r>
              <a:rPr lang="en-US" dirty="0"/>
              <a:t>high dimensional problems</a:t>
            </a:r>
          </a:p>
          <a:p>
            <a:pPr lvl="1"/>
            <a:r>
              <a:rPr lang="en-US" dirty="0" err="1"/>
              <a:t>WoS</a:t>
            </a:r>
            <a:r>
              <a:rPr lang="en-US" dirty="0"/>
              <a:t> + NN</a:t>
            </a:r>
          </a:p>
          <a:p>
            <a:pPr lvl="1"/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32134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80606-5018-A763-19A7-FB062F013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interesting topics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DAB5A8-A073-09D4-ACA2-39C0BE5CD2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sticky Brownian motion solving Robin B.C.</a:t>
            </a:r>
          </a:p>
          <a:p>
            <a:r>
              <a:rPr lang="en-US" dirty="0"/>
              <a:t>Helmholtz equation</a:t>
            </a:r>
          </a:p>
          <a:p>
            <a:r>
              <a:rPr lang="en-US" dirty="0"/>
              <a:t>Kelvin transform solving external </a:t>
            </a:r>
            <a:r>
              <a:rPr lang="en-US" dirty="0" err="1"/>
              <a:t>WoS</a:t>
            </a:r>
            <a:endParaRPr lang="en-US" dirty="0"/>
          </a:p>
          <a:p>
            <a:r>
              <a:rPr lang="en-US" dirty="0"/>
              <a:t>larger steps exit boundary </a:t>
            </a:r>
            <a:r>
              <a:rPr lang="en-US" dirty="0" err="1"/>
              <a:t>WoS</a:t>
            </a:r>
            <a:r>
              <a:rPr lang="en-US" dirty="0"/>
              <a:t> with the </a:t>
            </a:r>
            <a:r>
              <a:rPr lang="en-US" dirty="0" err="1"/>
              <a:t>WoSt’s</a:t>
            </a:r>
            <a:r>
              <a:rPr lang="en-US" dirty="0"/>
              <a:t> BIE</a:t>
            </a:r>
          </a:p>
          <a:p>
            <a:r>
              <a:rPr lang="en-US" dirty="0" err="1"/>
              <a:t>WoSt</a:t>
            </a:r>
            <a:r>
              <a:rPr lang="en-US" dirty="0"/>
              <a:t> method to solve walk on boundary</a:t>
            </a:r>
          </a:p>
          <a:p>
            <a:r>
              <a:rPr lang="en-US" dirty="0"/>
              <a:t>PINN</a:t>
            </a:r>
          </a:p>
          <a:p>
            <a:r>
              <a:rPr lang="en-US" dirty="0"/>
              <a:t>Different PDE cross region</a:t>
            </a:r>
          </a:p>
          <a:p>
            <a:r>
              <a:rPr lang="en-US" dirty="0"/>
              <a:t>ML sampling for Green’s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79143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1801</TotalTime>
  <Words>1253</Words>
  <Application>Microsoft Macintosh PowerPoint</Application>
  <PresentationFormat>Widescreen</PresentationFormat>
  <Paragraphs>124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Cambria Math</vt:lpstr>
      <vt:lpstr>Office Theme</vt:lpstr>
      <vt:lpstr>Non-deterministic PDE Solver with Machine Learning</vt:lpstr>
      <vt:lpstr>Reading List – for WoS</vt:lpstr>
      <vt:lpstr>Reading List – for NN in time discretization</vt:lpstr>
      <vt:lpstr>Project 1: WoS with NN</vt:lpstr>
      <vt:lpstr>Project 1: WoS with NN</vt:lpstr>
      <vt:lpstr>Project 1: WoS with NN</vt:lpstr>
      <vt:lpstr>Project 1: WoS with NN</vt:lpstr>
      <vt:lpstr>Project 1: WoS with NN</vt:lpstr>
      <vt:lpstr>Project 1: WoS with NN</vt:lpstr>
      <vt:lpstr>Timeline and Things to do</vt:lpstr>
      <vt:lpstr>Project 2: WoS library for Graphics</vt:lpstr>
      <vt:lpstr>Other interesting topics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Non-deterministic PDE Solver with Machine Learning</dc:title>
  <dc:creator>Silei Song</dc:creator>
  <cp:lastModifiedBy>Silei Song</cp:lastModifiedBy>
  <cp:revision>13</cp:revision>
  <dcterms:created xsi:type="dcterms:W3CDTF">2023-10-31T15:55:33Z</dcterms:created>
  <dcterms:modified xsi:type="dcterms:W3CDTF">2023-11-02T21:08:04Z</dcterms:modified>
</cp:coreProperties>
</file>