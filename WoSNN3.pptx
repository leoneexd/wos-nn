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5" r:id="rId4"/>
    <p:sldId id="279" r:id="rId5"/>
    <p:sldId id="280" r:id="rId6"/>
    <p:sldId id="281" r:id="rId7"/>
    <p:sldId id="283" r:id="rId8"/>
    <p:sldId id="288" r:id="rId9"/>
    <p:sldId id="284" r:id="rId10"/>
    <p:sldId id="289" r:id="rId11"/>
    <p:sldId id="261" r:id="rId12"/>
    <p:sldId id="282" r:id="rId13"/>
    <p:sldId id="285" r:id="rId14"/>
    <p:sldId id="290" r:id="rId15"/>
    <p:sldId id="286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6"/>
  </p:normalViewPr>
  <p:slideViewPr>
    <p:cSldViewPr snapToGrid="0">
      <p:cViewPr varScale="1">
        <p:scale>
          <a:sx n="102" d="100"/>
          <a:sy n="102" d="100"/>
        </p:scale>
        <p:origin x="9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8F8B7-1927-CF66-C081-6C17A6F4B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B5681-85DD-FA78-CEB4-FAA515A58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68235-27C8-DF1D-C3B4-48EEB7C69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4E39-4AAF-6448-B666-6681079215D2}" type="datetimeFigureOut">
              <a:rPr lang="en-US" smtClean="0"/>
              <a:t>5/22/24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244DE-6C50-B45B-3A88-EC36D8002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0B833-1660-9016-9F88-FBE3F404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F853-11D5-7940-A9E1-676683B8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20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F07DE-59CA-9B6A-DAA9-23C4E7C50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5A9F1-DC77-00C4-5F17-A6BFEFE8B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34D74-30BE-70D9-2347-2B22C7E31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4E39-4AAF-6448-B666-6681079215D2}" type="datetimeFigureOut">
              <a:rPr lang="en-US" smtClean="0"/>
              <a:t>5/22/24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C0AA7-8BB3-6E34-DF35-1CE7FB909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1F149-797A-E6F6-F921-64D52E2C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F853-11D5-7940-A9E1-676683B8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422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831C-7B46-73B3-78A4-1946D1FE7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D0702-AC0B-5613-67F1-CF6AB5A3F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748EF-8FF4-A0EC-740D-2C2611297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4E39-4AAF-6448-B666-6681079215D2}" type="datetimeFigureOut">
              <a:rPr lang="en-US" smtClean="0"/>
              <a:t>5/22/24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75E5A-672A-A7BD-AA87-981F412F3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BAB43-4394-2B84-505E-97650EB8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F853-11D5-7940-A9E1-676683B8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6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1515-3775-68FE-6604-FAC3C187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EDFCB-3A4F-580B-2695-3B53DC5DD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080E2-2BFB-F381-5FB5-85BBE2092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E2D0E-A974-DB29-9A3C-EE8B0B975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4E39-4AAF-6448-B666-6681079215D2}" type="datetimeFigureOut">
              <a:rPr lang="en-US" smtClean="0"/>
              <a:t>5/22/24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69351-EBD7-0F81-EA42-EBCD4E76A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0970D-2286-0757-EA8A-F8D38245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F853-11D5-7940-A9E1-676683B8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44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12CC7-18FB-8E43-E255-19F42298D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51978-84BA-194C-739F-08BFA0701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3C43F-E298-8157-709A-231CAD097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903A8-1FEF-3B16-F86A-31BE4AEC48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2F4FA0-2366-3409-16D1-A36D02257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CA974D-36EC-DB13-7BB8-5385F58F2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4E39-4AAF-6448-B666-6681079215D2}" type="datetimeFigureOut">
              <a:rPr lang="en-US" smtClean="0"/>
              <a:t>5/22/24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D10E0E-ED22-4A28-0186-F1640B708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C1213A-AE92-222E-408E-394E3C10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F853-11D5-7940-A9E1-676683B8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2316B-CAED-5130-B260-42552B4D8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25A16-B8B7-3E6B-F234-A677EB7C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4E39-4AAF-6448-B666-6681079215D2}" type="datetimeFigureOut">
              <a:rPr lang="en-US" smtClean="0"/>
              <a:t>5/22/24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022694-505C-89EE-BF28-9791D967E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75A4B4-1A51-1857-EBD2-C203CA5A7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F853-11D5-7940-A9E1-676683B8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69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4A8C2B-396B-FB71-D641-82D3F4636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4E39-4AAF-6448-B666-6681079215D2}" type="datetimeFigureOut">
              <a:rPr lang="en-US" smtClean="0"/>
              <a:t>5/22/24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211306-385B-0CBD-BB7A-C6FC4E646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648FA-E2A2-C07F-A6DB-0C3B4D81C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F853-11D5-7940-A9E1-676683B8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5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4743F-716C-3D8D-1D71-2C612D65A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CE3C1-C04F-DF8B-8DEB-AC8CEFDA6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3F76-C8D1-1CA8-9345-B412CC2B5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A4012-55C1-AB60-8781-EB2390F5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4E39-4AAF-6448-B666-6681079215D2}" type="datetimeFigureOut">
              <a:rPr lang="en-US" smtClean="0"/>
              <a:t>5/22/24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61513-058A-6476-C95E-134465B32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0E1DC-E520-B656-F7A7-7D10C4708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F853-11D5-7940-A9E1-676683B8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8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FF652-051C-5F4C-7D17-F4A9DAA36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0F2789-4A0C-369D-06DC-387AF97308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D81F5-6160-05E5-5E43-ACA80C2FE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5AEA6-C971-AFFB-949A-A369B06F9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4E39-4AAF-6448-B666-6681079215D2}" type="datetimeFigureOut">
              <a:rPr lang="en-US" smtClean="0"/>
              <a:t>5/22/24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42042-C2A7-7B9C-A49D-7A41ED46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BD1F9-867F-27C6-DBA3-B6074CC9C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F853-11D5-7940-A9E1-676683B8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9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B71F7-AF7A-7099-B647-F05E00B1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BCD83-F242-7EA7-5BE0-6E29CF7A7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DE27E-84DE-1D3F-5203-BC91998C8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4E39-4AAF-6448-B666-6681079215D2}" type="datetimeFigureOut">
              <a:rPr lang="en-US" smtClean="0"/>
              <a:t>5/22/24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C2A89-EE57-895F-66EB-A9C029D97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0A07F-DA8A-6626-F2A0-5C440EF5C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F853-11D5-7940-A9E1-676683B8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35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D6541-5B0D-4058-0041-860DD89432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FBA94-2691-35D1-1D9C-8F20947AF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9906F-EF93-F2A7-FC09-E0781C9F7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4E39-4AAF-6448-B666-6681079215D2}" type="datetimeFigureOut">
              <a:rPr lang="en-US" smtClean="0"/>
              <a:t>5/22/24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3EE72-EF9B-2619-3285-1B848B2B9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A788F-F58B-07C6-D737-50A320E36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F853-11D5-7940-A9E1-676683B8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3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5BDFB0-8DF7-1067-1D0D-CFE56D6CC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38E58-A3CB-77BC-FEC7-65687AA96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25E93-FA00-9D79-F32C-5CB85D3A4E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1F4E39-4AAF-6448-B666-6681079215D2}" type="datetimeFigureOut">
              <a:rPr lang="en-US" smtClean="0"/>
              <a:t>5/22/24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F106D-6EB6-57C9-3574-7D2FFE6CA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62189-7B85-15BE-67E5-D2D2C5C79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EEF853-11D5-7940-A9E1-676683B8E2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85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ED2BD-BC99-04C1-3D2B-454B14E074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WoS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NN on Poisson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8EDE5-434E-2D00-DAC6-3A911BE4A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Feb. 21</a:t>
            </a:r>
            <a:r>
              <a:rPr lang="en-US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2024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87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5B5BF-F38F-F9C6-2C9D-BF0CCFE6B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0B0104-5C3F-198B-B5C5-BB1A1C3C10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27551"/>
                <a:ext cx="10515600" cy="5630449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for Laplace equation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Based on Ito’s Lemma(2</a:t>
                </a:r>
                <a:r>
                  <a:rPr lang="en-US" baseline="30000" dirty="0"/>
                  <a:t>nd</a:t>
                </a:r>
                <a:r>
                  <a:rPr lang="en-US" dirty="0"/>
                  <a:t>-order Taylor expansion), for any Brownian motion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start from specific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,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while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Use single neural network to approximate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(∙,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l-G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l-G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US" dirty="0"/>
                  <a:t> is the exit point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is the exit time</a:t>
                </a:r>
              </a:p>
              <a:p>
                <a:r>
                  <a:rPr lang="en-US" dirty="0"/>
                  <a:t>The loss function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)|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with different Brownian motions from different start places as training inputs.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0B0104-5C3F-198B-B5C5-BB1A1C3C10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27551"/>
                <a:ext cx="10515600" cy="5630449"/>
              </a:xfrm>
              <a:blipFill>
                <a:blip r:embed="rId2"/>
                <a:stretch>
                  <a:fillRect l="-724" t="-27027" b="-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680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43A92-2141-F136-3F56-32406F429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</a:t>
            </a:r>
            <a:r>
              <a:rPr lang="en-US" dirty="0" err="1"/>
              <a:t>WoS</a:t>
            </a:r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01BFB26-FB16-D46A-D6CA-ACFABA7F6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3402" y="0"/>
            <a:ext cx="6828598" cy="3749521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26DFF1F-A914-43E5-A1EF-A15D00F0BC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924" y="3697614"/>
                <a:ext cx="11870152" cy="30226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Apply NN approximating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in each time step. Suppose the current </a:t>
                </a:r>
                <a:r>
                  <a:rPr lang="en-US" dirty="0" err="1"/>
                  <a:t>WoS</a:t>
                </a:r>
                <a:r>
                  <a:rPr lang="en-US" dirty="0"/>
                  <a:t> path takes k steps to reach boundary, it exit each ball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and the radius for next ball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equation works for all single walks. The expectation of changes brought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from inner local to boundary should be 0 when sample from multiple walks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26DFF1F-A914-43E5-A1EF-A15D00F0B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24" y="3697614"/>
                <a:ext cx="11870152" cy="3022600"/>
              </a:xfrm>
              <a:prstGeom prst="rect">
                <a:avLst/>
              </a:prstGeom>
              <a:blipFill>
                <a:blip r:embed="rId3"/>
                <a:stretch>
                  <a:fillRect l="-855" t="-13025" r="-962" b="-43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9ECAC9-2110-11C0-FDD4-6E5E3F39B14F}"/>
                  </a:ext>
                </a:extLst>
              </p:cNvPr>
              <p:cNvSpPr txBox="1"/>
              <p:nvPr/>
            </p:nvSpPr>
            <p:spPr>
              <a:xfrm>
                <a:off x="160924" y="1852092"/>
                <a:ext cx="5350528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For original </a:t>
                </a:r>
                <a:r>
                  <a:rPr lang="en-US" sz="2800" dirty="0" err="1"/>
                  <a:t>WoS</a:t>
                </a:r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Ε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as in the picture. 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Ε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9ECAC9-2110-11C0-FDD4-6E5E3F39B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24" y="1852092"/>
                <a:ext cx="5350528" cy="1384995"/>
              </a:xfrm>
              <a:prstGeom prst="rect">
                <a:avLst/>
              </a:prstGeom>
              <a:blipFill>
                <a:blip r:embed="rId4"/>
                <a:stretch>
                  <a:fillRect l="-1896" t="-4545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83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8BE54-0521-2C75-FE2C-1123D771C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2838"/>
            <a:ext cx="10515600" cy="2616070"/>
          </a:xfrm>
        </p:spPr>
        <p:txBody>
          <a:bodyPr/>
          <a:lstStyle/>
          <a:p>
            <a:r>
              <a:rPr lang="en-US" dirty="0"/>
              <a:t>2. Multiple start places with 1 path for each</a:t>
            </a:r>
            <a:br>
              <a:rPr lang="en-US" dirty="0"/>
            </a:br>
            <a:r>
              <a:rPr lang="en-US" dirty="0"/>
              <a:t>(Start Y is approximated by YNN)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4D835D-7787-6322-A0E0-C448239778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17315"/>
                <a:ext cx="10515600" cy="4809994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Sample paths start from 100 * 100 uniformly distributed points on [-1, 1]*[-1, 1].</a:t>
                </a:r>
              </a:p>
              <a:p>
                <a:r>
                  <a:rPr lang="en-US" dirty="0"/>
                  <a:t>For each local, walk only one path on it. Each path satisfies the following: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Create a YNN similar to ZNN to approximate the local results, along with ZNN to approximate gradients: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𝑍𝑁𝑁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∈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∈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𝑌𝑁𝑁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∈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∈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Loss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)|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US" dirty="0"/>
                  <a:t> is the boundary hit obtained from </a:t>
                </a:r>
                <a:r>
                  <a:rPr lang="en-US" dirty="0" err="1"/>
                  <a:t>WoS</a:t>
                </a:r>
                <a:endParaRPr lang="en-US" dirty="0"/>
              </a:p>
              <a:p>
                <a:r>
                  <a:rPr lang="en-US" dirty="0"/>
                  <a:t>Train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𝑌𝑁𝑁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𝑍𝑁𝑁</m:t>
                    </m:r>
                  </m:oMath>
                </a14:m>
                <a:r>
                  <a:rPr lang="en-US" dirty="0"/>
                  <a:t> path by path (</a:t>
                </a:r>
                <a:r>
                  <a:rPr lang="en-US" dirty="0" err="1"/>
                  <a:t>batch_size</a:t>
                </a:r>
                <a:r>
                  <a:rPr lang="en-US" dirty="0"/>
                  <a:t> = 1, epoch = 5), obtain a global gradient estimator.</a:t>
                </a:r>
              </a:p>
              <a:p>
                <a:endParaRPr lang="en-US" dirty="0"/>
              </a:p>
              <a:p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4D835D-7787-6322-A0E0-C448239778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17315"/>
                <a:ext cx="10515600" cy="4809994"/>
              </a:xfrm>
              <a:blipFill>
                <a:blip r:embed="rId2"/>
                <a:stretch>
                  <a:fillRect l="-844" t="-10789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2386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02DF8-FEF6-AA7D-6B09-6194A35A9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Structure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F769B74-A13C-0555-BAA5-3FECB33FDA2B}"/>
              </a:ext>
            </a:extLst>
          </p:cNvPr>
          <p:cNvGrpSpPr/>
          <p:nvPr/>
        </p:nvGrpSpPr>
        <p:grpSpPr>
          <a:xfrm>
            <a:off x="2211341" y="1690688"/>
            <a:ext cx="7793640" cy="3967723"/>
            <a:chOff x="2551751" y="1155423"/>
            <a:chExt cx="9330654" cy="480962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CB7DE9C-D8AF-3C9F-9311-16F8CE1C194C}"/>
                </a:ext>
              </a:extLst>
            </p:cNvPr>
            <p:cNvSpPr/>
            <p:nvPr/>
          </p:nvSpPr>
          <p:spPr>
            <a:xfrm>
              <a:off x="2551751" y="2226171"/>
              <a:ext cx="1340285" cy="135281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6DC5EEA-D5AA-BCAD-3C60-9DB4005275AD}"/>
                </a:ext>
              </a:extLst>
            </p:cNvPr>
            <p:cNvSpPr/>
            <p:nvPr/>
          </p:nvSpPr>
          <p:spPr>
            <a:xfrm>
              <a:off x="5425857" y="2229633"/>
              <a:ext cx="1340285" cy="135281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26DFCFD-D3B0-3206-9881-B108D9F03DA1}"/>
                </a:ext>
              </a:extLst>
            </p:cNvPr>
            <p:cNvSpPr/>
            <p:nvPr/>
          </p:nvSpPr>
          <p:spPr>
            <a:xfrm>
              <a:off x="2677010" y="4336093"/>
              <a:ext cx="1089765" cy="10897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511B7AA-CC9C-165E-28E6-2FF8B6B08019}"/>
                </a:ext>
              </a:extLst>
            </p:cNvPr>
            <p:cNvSpPr/>
            <p:nvPr/>
          </p:nvSpPr>
          <p:spPr>
            <a:xfrm>
              <a:off x="5551116" y="4336093"/>
              <a:ext cx="1089765" cy="10897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ounded Rectangle 7">
                  <a:extLst>
                    <a:ext uri="{FF2B5EF4-FFF2-40B4-BE49-F238E27FC236}">
                      <a16:creationId xmlns:a16="http://schemas.microsoft.com/office/drawing/2014/main" id="{9669610E-75E2-200B-9936-3E9842AE986F}"/>
                    </a:ext>
                  </a:extLst>
                </p:cNvPr>
                <p:cNvSpPr/>
                <p:nvPr/>
              </p:nvSpPr>
              <p:spPr>
                <a:xfrm>
                  <a:off x="9640246" y="2418285"/>
                  <a:ext cx="2242159" cy="998951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ea typeface="Cambria Math" panose="02040503050406030204" pitchFamily="18" charset="0"/>
                    </a:rPr>
                    <a:t>loss: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)|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Rounded Rectangle 7">
                  <a:extLst>
                    <a:ext uri="{FF2B5EF4-FFF2-40B4-BE49-F238E27FC236}">
                      <a16:creationId xmlns:a16="http://schemas.microsoft.com/office/drawing/2014/main" id="{9669610E-75E2-200B-9936-3E9842AE98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0246" y="2418285"/>
                  <a:ext cx="2242159" cy="998951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DC92F1C-540A-BA73-01EF-143E9FFBAA59}"/>
                </a:ext>
              </a:extLst>
            </p:cNvPr>
            <p:cNvCxnSpPr>
              <a:cxnSpLocks/>
              <a:stCxn id="6" idx="0"/>
              <a:endCxn id="4" idx="2"/>
            </p:cNvCxnSpPr>
            <p:nvPr/>
          </p:nvCxnSpPr>
          <p:spPr>
            <a:xfrm flipV="1">
              <a:off x="3221893" y="3578983"/>
              <a:ext cx="1" cy="7571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3358A12-C934-F1D3-2400-8A91C1772B04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3892036" y="2902577"/>
              <a:ext cx="1533821" cy="34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6E2833E-C99A-FCD5-3F2C-92473EBA83BD}"/>
                    </a:ext>
                  </a:extLst>
                </p:cNvPr>
                <p:cNvSpPr txBox="1"/>
                <p:nvPr/>
              </p:nvSpPr>
              <p:spPr>
                <a:xfrm>
                  <a:off x="2879164" y="4680964"/>
                  <a:ext cx="7786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6E2833E-C99A-FCD5-3F2C-92473EBA83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9164" y="4680964"/>
                  <a:ext cx="778699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EB6F2F1-9452-57BD-D4B7-11915F677DB6}"/>
                </a:ext>
              </a:extLst>
            </p:cNvPr>
            <p:cNvSpPr txBox="1"/>
            <p:nvPr/>
          </p:nvSpPr>
          <p:spPr>
            <a:xfrm>
              <a:off x="2785919" y="2675203"/>
              <a:ext cx="8719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YNN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7C52AF3-5197-07DD-5A3F-C27A0943B85F}"/>
                </a:ext>
              </a:extLst>
            </p:cNvPr>
            <p:cNvSpPr txBox="1"/>
            <p:nvPr/>
          </p:nvSpPr>
          <p:spPr>
            <a:xfrm>
              <a:off x="5724016" y="2675203"/>
              <a:ext cx="8719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ZNN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9627B63-B046-EED0-5CC2-F40B4B33E93E}"/>
                </a:ext>
              </a:extLst>
            </p:cNvPr>
            <p:cNvSpPr txBox="1"/>
            <p:nvPr/>
          </p:nvSpPr>
          <p:spPr>
            <a:xfrm>
              <a:off x="3844859" y="2432699"/>
              <a:ext cx="1879156" cy="485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accumulate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8CE6188-4FAE-BFD3-424C-AD3853E18024}"/>
                    </a:ext>
                  </a:extLst>
                </p:cNvPr>
                <p:cNvSpPr txBox="1"/>
                <p:nvPr/>
              </p:nvSpPr>
              <p:spPr>
                <a:xfrm>
                  <a:off x="5705606" y="4696309"/>
                  <a:ext cx="7786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8CE6188-4FAE-BFD3-424C-AD3853E18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5606" y="4696309"/>
                  <a:ext cx="778699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32ABBDD-72F2-4483-9C39-B24949165A65}"/>
                </a:ext>
              </a:extLst>
            </p:cNvPr>
            <p:cNvSpPr txBox="1"/>
            <p:nvPr/>
          </p:nvSpPr>
          <p:spPr>
            <a:xfrm>
              <a:off x="5337743" y="1155423"/>
              <a:ext cx="1851682" cy="485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accumulate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98E630A-32CF-11E4-5029-84E80D2D9C08}"/>
                </a:ext>
              </a:extLst>
            </p:cNvPr>
            <p:cNvCxnSpPr>
              <a:stCxn id="7" idx="0"/>
              <a:endCxn id="5" idx="2"/>
            </p:cNvCxnSpPr>
            <p:nvPr/>
          </p:nvCxnSpPr>
          <p:spPr>
            <a:xfrm flipV="1">
              <a:off x="6095999" y="3582444"/>
              <a:ext cx="1" cy="7536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187B5B4-DB44-AFF9-1910-751D59B11D8A}"/>
                </a:ext>
              </a:extLst>
            </p:cNvPr>
            <p:cNvSpPr/>
            <p:nvPr/>
          </p:nvSpPr>
          <p:spPr>
            <a:xfrm>
              <a:off x="5474424" y="1578266"/>
              <a:ext cx="1104762" cy="651367"/>
            </a:xfrm>
            <a:custGeom>
              <a:avLst/>
              <a:gdLst>
                <a:gd name="connsiteX0" fmla="*/ 237444 w 1104762"/>
                <a:gd name="connsiteY0" fmla="*/ 638841 h 651367"/>
                <a:gd name="connsiteX1" fmla="*/ 11976 w 1104762"/>
                <a:gd name="connsiteY1" fmla="*/ 350742 h 651367"/>
                <a:gd name="connsiteX2" fmla="*/ 563121 w 1104762"/>
                <a:gd name="connsiteY2" fmla="*/ 13 h 651367"/>
                <a:gd name="connsiteX3" fmla="*/ 1089214 w 1104762"/>
                <a:gd name="connsiteY3" fmla="*/ 363268 h 651367"/>
                <a:gd name="connsiteX4" fmla="*/ 913850 w 1104762"/>
                <a:gd name="connsiteY4" fmla="*/ 651367 h 651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4762" h="651367">
                  <a:moveTo>
                    <a:pt x="237444" y="638841"/>
                  </a:moveTo>
                  <a:cubicBezTo>
                    <a:pt x="97570" y="548027"/>
                    <a:pt x="-42303" y="457213"/>
                    <a:pt x="11976" y="350742"/>
                  </a:cubicBezTo>
                  <a:cubicBezTo>
                    <a:pt x="66255" y="244271"/>
                    <a:pt x="383581" y="-2075"/>
                    <a:pt x="563121" y="13"/>
                  </a:cubicBezTo>
                  <a:cubicBezTo>
                    <a:pt x="742661" y="2101"/>
                    <a:pt x="1030759" y="254709"/>
                    <a:pt x="1089214" y="363268"/>
                  </a:cubicBezTo>
                  <a:cubicBezTo>
                    <a:pt x="1147669" y="471827"/>
                    <a:pt x="1030759" y="561597"/>
                    <a:pt x="913850" y="65136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878A5ED-95BE-B2BB-06AB-8C4A26BD24FB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V="1">
              <a:off x="6766142" y="2902577"/>
              <a:ext cx="956516" cy="34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Curved Connector 52">
              <a:extLst>
                <a:ext uri="{FF2B5EF4-FFF2-40B4-BE49-F238E27FC236}">
                  <a16:creationId xmlns:a16="http://schemas.microsoft.com/office/drawing/2014/main" id="{9D12EED0-FA18-F6F4-7000-946A75DFE763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rot="5400000">
              <a:off x="7872861" y="3076584"/>
              <a:ext cx="2547813" cy="3229116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9CEEF16-C478-C779-F559-1EBFBF95ECA5}"/>
                </a:ext>
              </a:extLst>
            </p:cNvPr>
            <p:cNvSpPr txBox="1"/>
            <p:nvPr/>
          </p:nvSpPr>
          <p:spPr>
            <a:xfrm>
              <a:off x="9909960" y="4880975"/>
              <a:ext cx="18519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back propagate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13CDD0-83D2-AABA-D4F8-2C671F086419}"/>
                  </a:ext>
                </a:extLst>
              </p:cNvPr>
              <p:cNvSpPr/>
              <p:nvPr/>
            </p:nvSpPr>
            <p:spPr>
              <a:xfrm>
                <a:off x="6497933" y="2662977"/>
                <a:ext cx="961592" cy="97005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13CDD0-83D2-AABA-D4F8-2C671F0864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7933" y="2662977"/>
                <a:ext cx="961592" cy="97005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A2F9D0D-D941-F53F-0D44-C335D2385E5C}"/>
              </a:ext>
            </a:extLst>
          </p:cNvPr>
          <p:cNvCxnSpPr>
            <a:cxnSpLocks/>
            <a:stCxn id="63" idx="6"/>
            <a:endCxn id="8" idx="1"/>
          </p:cNvCxnSpPr>
          <p:nvPr/>
        </p:nvCxnSpPr>
        <p:spPr>
          <a:xfrm flipV="1">
            <a:off x="7459525" y="3144537"/>
            <a:ext cx="672642" cy="3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219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A724D-CEB1-CF1B-C2CA-C5FA61FEF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left problem: Batch utilize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848A7-EF34-C882-3E3B-52A2B7A01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9893"/>
            <a:ext cx="10515600" cy="4948107"/>
          </a:xfrm>
        </p:spPr>
        <p:txBody>
          <a:bodyPr/>
          <a:lstStyle/>
          <a:p>
            <a:r>
              <a:rPr lang="en-US" dirty="0"/>
              <a:t>Vectorize varying length paths -&gt; a constant path length</a:t>
            </a:r>
          </a:p>
          <a:p>
            <a:pPr lvl="1"/>
            <a:r>
              <a:rPr lang="en-US" dirty="0"/>
              <a:t>extend short paths by stay at the boundary hit points repeatedly</a:t>
            </a:r>
          </a:p>
          <a:p>
            <a:r>
              <a:rPr lang="en-US" dirty="0"/>
              <a:t>Unbalanced training</a:t>
            </a:r>
            <a:r>
              <a:rPr lang="en-US" altLang="zh-CN" dirty="0"/>
              <a:t>: </a:t>
            </a:r>
            <a:endParaRPr lang="en-US" dirty="0"/>
          </a:p>
          <a:p>
            <a:pPr lvl="1"/>
            <a:r>
              <a:rPr lang="en-US" dirty="0"/>
              <a:t>not obvious for single sample training situation (batch size = 1), because most of the paths are having small lengths</a:t>
            </a:r>
          </a:p>
          <a:p>
            <a:pPr lvl="1"/>
            <a:r>
              <a:rPr lang="en-US" dirty="0"/>
              <a:t>when paths long enough, ZNN for gradient estimation will be trained multiple times while YNN will be trained only for once for each batch.</a:t>
            </a:r>
          </a:p>
          <a:p>
            <a:r>
              <a:rPr lang="en-US" dirty="0"/>
              <a:t>The unbalanced training will result in the ignore of one of the networks during optimization</a:t>
            </a:r>
          </a:p>
          <a:p>
            <a:pPr lvl="1"/>
            <a:r>
              <a:rPr lang="en-US" dirty="0"/>
              <a:t>the training 0 out YNN every time -&gt; a local minimum for the network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236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0758-BB88-DB77-AEB4-BE5F13EBE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Network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A1D9F-A1DF-5475-8027-C9BD798B3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7542" y="1569821"/>
            <a:ext cx="5257800" cy="4923054"/>
          </a:xfrm>
        </p:spPr>
        <p:txBody>
          <a:bodyPr>
            <a:normAutofit/>
          </a:bodyPr>
          <a:lstStyle/>
          <a:p>
            <a:r>
              <a:rPr lang="en-US" dirty="0"/>
              <a:t>Instead of letting the NNs to capture the inner relationship between local solutions and gradients, using a single inner-connected NN to give solutions and gradients simultaneously -&gt; instruct the NN to capture the relationship, should be more efficient</a:t>
            </a:r>
          </a:p>
          <a:p>
            <a:r>
              <a:rPr lang="en-US" dirty="0"/>
              <a:t>However, the problem of unbalanced training is still not completely solved.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80ADA7-71D7-9F5A-514D-76846D351E9E}"/>
              </a:ext>
            </a:extLst>
          </p:cNvPr>
          <p:cNvSpPr/>
          <p:nvPr/>
        </p:nvSpPr>
        <p:spPr>
          <a:xfrm>
            <a:off x="2034435" y="2167003"/>
            <a:ext cx="1653436" cy="27807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YZNN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7C976016-92BB-76E3-59EE-C52D095720CA}"/>
                  </a:ext>
                </a:extLst>
              </p:cNvPr>
              <p:cNvSpPr/>
              <p:nvPr/>
            </p:nvSpPr>
            <p:spPr>
              <a:xfrm>
                <a:off x="538619" y="2179529"/>
                <a:ext cx="964504" cy="96450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7C976016-92BB-76E3-59EE-C52D095720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19" y="2179529"/>
                <a:ext cx="964504" cy="96450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456751E-FE32-221F-ECA9-9ABE3BB64326}"/>
                  </a:ext>
                </a:extLst>
              </p:cNvPr>
              <p:cNvSpPr/>
              <p:nvPr/>
            </p:nvSpPr>
            <p:spPr>
              <a:xfrm>
                <a:off x="538619" y="3983277"/>
                <a:ext cx="964504" cy="96450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456751E-FE32-221F-ECA9-9ABE3BB643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19" y="3983277"/>
                <a:ext cx="964504" cy="96450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1B8160-A44F-E645-EF3D-9A50A939AE7A}"/>
              </a:ext>
            </a:extLst>
          </p:cNvPr>
          <p:cNvCxnSpPr>
            <a:stCxn id="5" idx="6"/>
          </p:cNvCxnSpPr>
          <p:nvPr/>
        </p:nvCxnSpPr>
        <p:spPr>
          <a:xfrm>
            <a:off x="1503123" y="2661781"/>
            <a:ext cx="5511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23FD39-0703-E69D-7DB0-3C87C70BD5C0}"/>
              </a:ext>
            </a:extLst>
          </p:cNvPr>
          <p:cNvCxnSpPr/>
          <p:nvPr/>
        </p:nvCxnSpPr>
        <p:spPr>
          <a:xfrm>
            <a:off x="1503123" y="4465529"/>
            <a:ext cx="5511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0DEA97-C8F6-A93A-373D-54FB1F88F8A6}"/>
              </a:ext>
            </a:extLst>
          </p:cNvPr>
          <p:cNvCxnSpPr/>
          <p:nvPr/>
        </p:nvCxnSpPr>
        <p:spPr>
          <a:xfrm>
            <a:off x="3687871" y="2657606"/>
            <a:ext cx="5511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E7A775-99F0-A01B-3CCE-FB68FF4C9489}"/>
              </a:ext>
            </a:extLst>
          </p:cNvPr>
          <p:cNvCxnSpPr/>
          <p:nvPr/>
        </p:nvCxnSpPr>
        <p:spPr>
          <a:xfrm>
            <a:off x="3687871" y="4465529"/>
            <a:ext cx="5511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13C49A8-CCB6-96E9-BAF6-A93E76F99356}"/>
                  </a:ext>
                </a:extLst>
              </p:cNvPr>
              <p:cNvSpPr/>
              <p:nvPr/>
            </p:nvSpPr>
            <p:spPr>
              <a:xfrm>
                <a:off x="4239016" y="2167003"/>
                <a:ext cx="964504" cy="96450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13C49A8-CCB6-96E9-BAF6-A93E76F993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016" y="2167003"/>
                <a:ext cx="964504" cy="96450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08EEEEA-0A6C-1E69-2A0B-9FEC428920AF}"/>
                  </a:ext>
                </a:extLst>
              </p:cNvPr>
              <p:cNvSpPr/>
              <p:nvPr/>
            </p:nvSpPr>
            <p:spPr>
              <a:xfrm>
                <a:off x="4219183" y="3995803"/>
                <a:ext cx="964504" cy="96450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08EEEEA-0A6C-1E69-2A0B-9FEC428920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183" y="3995803"/>
                <a:ext cx="964504" cy="96450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 15">
            <a:extLst>
              <a:ext uri="{FF2B5EF4-FFF2-40B4-BE49-F238E27FC236}">
                <a16:creationId xmlns:a16="http://schemas.microsoft.com/office/drawing/2014/main" id="{3AAE5AAE-160D-325C-EF9C-014B4068FF59}"/>
              </a:ext>
            </a:extLst>
          </p:cNvPr>
          <p:cNvSpPr/>
          <p:nvPr/>
        </p:nvSpPr>
        <p:spPr>
          <a:xfrm>
            <a:off x="3419605" y="4947781"/>
            <a:ext cx="1252603" cy="563682"/>
          </a:xfrm>
          <a:custGeom>
            <a:avLst/>
            <a:gdLst>
              <a:gd name="connsiteX0" fmla="*/ 0 w 1252603"/>
              <a:gd name="connsiteY0" fmla="*/ 0 h 563682"/>
              <a:gd name="connsiteX1" fmla="*/ 638828 w 1252603"/>
              <a:gd name="connsiteY1" fmla="*/ 563671 h 563682"/>
              <a:gd name="connsiteX2" fmla="*/ 1252603 w 1252603"/>
              <a:gd name="connsiteY2" fmla="*/ 12526 h 56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2603" h="563682">
                <a:moveTo>
                  <a:pt x="0" y="0"/>
                </a:moveTo>
                <a:cubicBezTo>
                  <a:pt x="215030" y="280791"/>
                  <a:pt x="430061" y="561583"/>
                  <a:pt x="638828" y="563671"/>
                </a:cubicBezTo>
                <a:cubicBezTo>
                  <a:pt x="847595" y="565759"/>
                  <a:pt x="1050099" y="289142"/>
                  <a:pt x="1252603" y="12526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B72C0300-01E8-9840-C7A6-98E083E0B34E}"/>
              </a:ext>
            </a:extLst>
          </p:cNvPr>
          <p:cNvSpPr/>
          <p:nvPr/>
        </p:nvSpPr>
        <p:spPr>
          <a:xfrm>
            <a:off x="5198301" y="2630466"/>
            <a:ext cx="325760" cy="1866378"/>
          </a:xfrm>
          <a:custGeom>
            <a:avLst/>
            <a:gdLst>
              <a:gd name="connsiteX0" fmla="*/ 25052 w 325760"/>
              <a:gd name="connsiteY0" fmla="*/ 0 h 1866378"/>
              <a:gd name="connsiteX1" fmla="*/ 325677 w 325760"/>
              <a:gd name="connsiteY1" fmla="*/ 864296 h 1866378"/>
              <a:gd name="connsiteX2" fmla="*/ 0 w 325760"/>
              <a:gd name="connsiteY2" fmla="*/ 1866378 h 1866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760" h="1866378">
                <a:moveTo>
                  <a:pt x="25052" y="0"/>
                </a:moveTo>
                <a:cubicBezTo>
                  <a:pt x="177452" y="276616"/>
                  <a:pt x="329852" y="553233"/>
                  <a:pt x="325677" y="864296"/>
                </a:cubicBezTo>
                <a:cubicBezTo>
                  <a:pt x="321502" y="1175359"/>
                  <a:pt x="160751" y="1520868"/>
                  <a:pt x="0" y="1866378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E24A2A1-F37D-E41A-4946-FC69C3A81765}"/>
              </a:ext>
            </a:extLst>
          </p:cNvPr>
          <p:cNvCxnSpPr>
            <a:cxnSpLocks/>
            <a:stCxn id="17" idx="1"/>
          </p:cNvCxnSpPr>
          <p:nvPr/>
        </p:nvCxnSpPr>
        <p:spPr>
          <a:xfrm>
            <a:off x="5523978" y="3494762"/>
            <a:ext cx="5720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4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6446-E94E-3C79-630A-89761D9B0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E2DE6C-48E5-6CB0-CC98-A3FBF6B214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76145"/>
                <a:ext cx="10515600" cy="416181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Along the tests, we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as the target Laplacian to be approximated.</a:t>
                </a:r>
              </a:p>
              <a:p>
                <a:r>
                  <a:rPr lang="en-US" dirty="0"/>
                  <a:t>On a square region [-1, -1] ~ [1, 1], sampled 8132 paths starting from 9801 starting points evenly distributed among the region,  path max length 16, </a:t>
                </a:r>
                <a:r>
                  <a:rPr lang="en-US" dirty="0" err="1"/>
                  <a:t>WoS</a:t>
                </a:r>
                <a:r>
                  <a:rPr lang="en-US" dirty="0"/>
                  <a:t> eps = 0.001</a:t>
                </a:r>
              </a:p>
              <a:p>
                <a:endParaRPr lang="en-US" dirty="0"/>
              </a:p>
              <a:p>
                <a:r>
                  <a:rPr lang="en-US" dirty="0"/>
                  <a:t>Neural network structure: 3-layer with [32, 64, 128] neurons</a:t>
                </a:r>
              </a:p>
              <a:p>
                <a:r>
                  <a:rPr lang="en-US" dirty="0" err="1"/>
                  <a:t>Batch_size</a:t>
                </a:r>
                <a:r>
                  <a:rPr lang="en-US" dirty="0"/>
                  <a:t> = 256, epoch = 30, </a:t>
                </a:r>
                <a:r>
                  <a:rPr lang="en-US" dirty="0" err="1"/>
                  <a:t>learning_rate</a:t>
                </a:r>
                <a:r>
                  <a:rPr lang="en-US" dirty="0"/>
                  <a:t> = 0.0001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E2DE6C-48E5-6CB0-CC98-A3FBF6B214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76145"/>
                <a:ext cx="10515600" cy="4161817"/>
              </a:xfrm>
              <a:blipFill>
                <a:blip r:embed="rId2"/>
                <a:stretch>
                  <a:fillRect l="-1086" t="-2432" r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628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0FC7-CA79-38C7-00D3-4B3504EDD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Results and comparison – local solutions</a:t>
            </a:r>
          </a:p>
        </p:txBody>
      </p:sp>
      <p:pic>
        <p:nvPicPr>
          <p:cNvPr id="5" name="Content Placeholder 4" descr="A graph of a curve&#10;&#10;Description automatically generated">
            <a:extLst>
              <a:ext uri="{FF2B5EF4-FFF2-40B4-BE49-F238E27FC236}">
                <a16:creationId xmlns:a16="http://schemas.microsoft.com/office/drawing/2014/main" id="{ED276937-340D-F7D9-CB6D-47EB507852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133867" cy="4351338"/>
          </a:xfrm>
        </p:spPr>
      </p:pic>
      <p:pic>
        <p:nvPicPr>
          <p:cNvPr id="6" name="Picture 5" descr="A graph with a red and blue curve&#10;&#10;Description automatically generated">
            <a:extLst>
              <a:ext uri="{FF2B5EF4-FFF2-40B4-BE49-F238E27FC236}">
                <a16:creationId xmlns:a16="http://schemas.microsoft.com/office/drawing/2014/main" id="{7D5BCCFB-527E-BE50-C6B4-9C34EDA32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446" y="1570579"/>
            <a:ext cx="5133867" cy="45915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4A43A6-E32D-57A3-FA46-34E52248FA6C}"/>
              </a:ext>
            </a:extLst>
          </p:cNvPr>
          <p:cNvSpPr txBox="1"/>
          <p:nvPr/>
        </p:nvSpPr>
        <p:spPr>
          <a:xfrm>
            <a:off x="8616480" y="6042026"/>
            <a:ext cx="1490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batch size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E5D952-9686-9F2F-9BEA-97CB135EB84A}"/>
              </a:ext>
            </a:extLst>
          </p:cNvPr>
          <p:cNvSpPr txBox="1"/>
          <p:nvPr/>
        </p:nvSpPr>
        <p:spPr>
          <a:xfrm>
            <a:off x="2830222" y="6042026"/>
            <a:ext cx="1490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batch utilized</a:t>
            </a:r>
          </a:p>
        </p:txBody>
      </p:sp>
    </p:spTree>
    <p:extLst>
      <p:ext uri="{BB962C8B-B14F-4D97-AF65-F5344CB8AC3E}">
        <p14:creationId xmlns:p14="http://schemas.microsoft.com/office/powerpoint/2010/main" val="648506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0FC7-CA79-38C7-00D3-4B3504EDD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Results and comparison – gradient norm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4A43A6-E32D-57A3-FA46-34E52248FA6C}"/>
              </a:ext>
            </a:extLst>
          </p:cNvPr>
          <p:cNvSpPr txBox="1"/>
          <p:nvPr/>
        </p:nvSpPr>
        <p:spPr>
          <a:xfrm>
            <a:off x="8137731" y="6052584"/>
            <a:ext cx="1490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batch size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E5D952-9686-9F2F-9BEA-97CB135EB84A}"/>
              </a:ext>
            </a:extLst>
          </p:cNvPr>
          <p:cNvSpPr txBox="1"/>
          <p:nvPr/>
        </p:nvSpPr>
        <p:spPr>
          <a:xfrm>
            <a:off x="2563674" y="6052584"/>
            <a:ext cx="1490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batch utilized</a:t>
            </a:r>
            <a:endParaRPr lang="en-US" dirty="0"/>
          </a:p>
        </p:txBody>
      </p:sp>
      <p:pic>
        <p:nvPicPr>
          <p:cNvPr id="10" name="Content Placeholder 9" descr="A graph of a graph with a grid&#10;&#10;Description automatically generated with medium confidence">
            <a:extLst>
              <a:ext uri="{FF2B5EF4-FFF2-40B4-BE49-F238E27FC236}">
                <a16:creationId xmlns:a16="http://schemas.microsoft.com/office/drawing/2014/main" id="{EB1C572D-AD6E-9D2A-460F-C672D7D4A7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941546" cy="4351338"/>
          </a:xfrm>
        </p:spPr>
      </p:pic>
      <p:pic>
        <p:nvPicPr>
          <p:cNvPr id="11" name="Picture 10" descr="A graph of a graph with lines and numbers&#10;&#10;Description automatically generated with medium confidence">
            <a:extLst>
              <a:ext uri="{FF2B5EF4-FFF2-40B4-BE49-F238E27FC236}">
                <a16:creationId xmlns:a16="http://schemas.microsoft.com/office/drawing/2014/main" id="{BAA0BB10-9FB5-CA23-D958-6EAC8A57B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841" y="1612529"/>
            <a:ext cx="4855865" cy="44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958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AEEDE-F4D6-B096-12D0-254B0AB4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849"/>
            <a:ext cx="10515600" cy="1325563"/>
          </a:xfrm>
        </p:spPr>
        <p:txBody>
          <a:bodyPr/>
          <a:lstStyle/>
          <a:p>
            <a:r>
              <a:rPr lang="en-US" dirty="0"/>
              <a:t>Source term contribution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25649D-4B3D-9B7B-BB43-64313A3D17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0076"/>
                <a:ext cx="10515600" cy="586271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Other 2</a:t>
                </a:r>
                <a:r>
                  <a:rPr lang="en-US" baseline="30000" dirty="0"/>
                  <a:t>nd</a:t>
                </a:r>
                <a:r>
                  <a:rPr lang="en-US" dirty="0"/>
                  <a:t>-order elliptic equations with Laplace (Poisson here)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source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term was associated with time in Feynman-Kac formula: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which include the gap of time -&gt; requires small time steps</a:t>
                </a:r>
              </a:p>
              <a:p>
                <a:r>
                  <a:rPr lang="en-US" dirty="0" err="1"/>
                  <a:t>WoS</a:t>
                </a:r>
                <a:r>
                  <a:rPr lang="en-US" dirty="0"/>
                  <a:t> for Poisson equation enables us to estimate the source term contribution by in-ball samples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(sampled by Green’s distribution)</a:t>
                </a:r>
                <a:r>
                  <a:rPr lang="en-US" dirty="0"/>
                  <a:t>, without accumulate it along the process time.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exit time of </a:t>
                </a:r>
                <a:r>
                  <a:rPr lang="en-US" dirty="0" err="1"/>
                  <a:t>i-th</a:t>
                </a:r>
                <a:r>
                  <a:rPr lang="en-US" dirty="0"/>
                  <a:t> ball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in-ball sample of </a:t>
                </a:r>
                <a:r>
                  <a:rPr lang="en-US" dirty="0" err="1"/>
                  <a:t>i-th</a:t>
                </a:r>
                <a:r>
                  <a:rPr lang="en-US" dirty="0"/>
                  <a:t> sphere: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25649D-4B3D-9B7B-BB43-64313A3D1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0076"/>
                <a:ext cx="10515600" cy="5862715"/>
              </a:xfrm>
              <a:blipFill>
                <a:blip r:embed="rId2"/>
                <a:stretch>
                  <a:fillRect l="-724" t="-25918" r="-483" b="-21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164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69D0B-10C3-D511-347B-98388272C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Solving Poisson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525A9B-C633-01AA-420D-075192417F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0500"/>
                <a:ext cx="10515600" cy="53975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Elepov’s theory: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is the source term,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in-ball sample. </a:t>
                </a:r>
              </a:p>
              <a:p>
                <a:r>
                  <a:rPr lang="en-US" dirty="0"/>
                  <a:t>Our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dirty="0"/>
                  <a:t> can be represented by in-ball samples based on the above equation. For 2-dimensional situation: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𝑑𝑥𝑑𝑦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is the </a:t>
                </a:r>
                <a:r>
                  <a:rPr lang="en-US" dirty="0" err="1"/>
                  <a:t>i-th</a:t>
                </a:r>
                <a:r>
                  <a:rPr lang="en-US" dirty="0"/>
                  <a:t> ball radius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sampled by the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𝑙𝑜𝑔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Source term estimation: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nary>
                      <m:nary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525A9B-C633-01AA-420D-075192417F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0500"/>
                <a:ext cx="10515600" cy="5397500"/>
              </a:xfrm>
              <a:blipFill>
                <a:blip r:embed="rId2"/>
                <a:stretch>
                  <a:fillRect l="-1206" t="-2824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yellow and black text&#10;&#10;Description automatically generated">
            <a:extLst>
              <a:ext uri="{FF2B5EF4-FFF2-40B4-BE49-F238E27FC236}">
                <a16:creationId xmlns:a16="http://schemas.microsoft.com/office/drawing/2014/main" id="{823F7F24-8682-650D-CE14-810B3DE6B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872" y="1460500"/>
            <a:ext cx="7772400" cy="12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30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6F7113D-4AB6-187B-951A-F0C83DD12AE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776826"/>
              </a:xfrm>
            </p:spPr>
            <p:txBody>
              <a:bodyPr>
                <a:normAutofit/>
              </a:bodyPr>
              <a:lstStyle/>
              <a:p>
                <a:pPr/>
                <a:r>
                  <a:rPr lang="en-US" dirty="0"/>
                  <a:t>Test Results for Constant Source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=6,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6F7113D-4AB6-187B-951A-F0C83DD12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776826"/>
              </a:xfrm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731C26-DC98-A6C0-7499-85B94696D0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1735" y="1883342"/>
            <a:ext cx="4591261" cy="4351338"/>
          </a:xfrm>
        </p:spPr>
      </p:pic>
      <p:pic>
        <p:nvPicPr>
          <p:cNvPr id="7" name="Picture 6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0F1C6F07-DEB9-5E5C-716C-3E3C61D7B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700" y="1883342"/>
            <a:ext cx="4591261" cy="4318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10192B-605C-492F-7FC0-9E8BC8A434AB}"/>
              </a:ext>
            </a:extLst>
          </p:cNvPr>
          <p:cNvSpPr txBox="1"/>
          <p:nvPr/>
        </p:nvSpPr>
        <p:spPr>
          <a:xfrm>
            <a:off x="2592889" y="6234680"/>
            <a:ext cx="2041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 solution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4DDD46-E191-96C8-8343-D34CE6407600}"/>
              </a:ext>
            </a:extLst>
          </p:cNvPr>
          <p:cNvSpPr txBox="1"/>
          <p:nvPr/>
        </p:nvSpPr>
        <p:spPr>
          <a:xfrm>
            <a:off x="6901842" y="6201962"/>
            <a:ext cx="4146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gradient estimation (norm of gradient)</a:t>
            </a:r>
          </a:p>
        </p:txBody>
      </p:sp>
    </p:spTree>
    <p:extLst>
      <p:ext uri="{BB962C8B-B14F-4D97-AF65-F5344CB8AC3E}">
        <p14:creationId xmlns:p14="http://schemas.microsoft.com/office/powerpoint/2010/main" val="156736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BA68-2606-E281-B948-5E431350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Poisson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97A0C2-2545-B70D-5B3A-AB7D64358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Sampling in-ball samples: reverse CDF sampling</a:t>
                </a:r>
              </a:p>
              <a:p>
                <a:pPr lvl="1"/>
                <a:r>
                  <a:rPr lang="en-US" dirty="0"/>
                  <a:t>construct the distribution table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On a square region [-1, -1] ~ [1, 1], sampled 8214 paths starting from 9801 starting points evenly distributed among the region,  path max length 16, </a:t>
                </a:r>
                <a:r>
                  <a:rPr lang="en-US" dirty="0" err="1"/>
                  <a:t>WoS</a:t>
                </a:r>
                <a:r>
                  <a:rPr lang="en-US" dirty="0"/>
                  <a:t> eps = 0.001</a:t>
                </a:r>
              </a:p>
              <a:p>
                <a:r>
                  <a:rPr lang="en-US" dirty="0"/>
                  <a:t>Neural network structure: 3-layer with [32, 64, 128] neurons</a:t>
                </a:r>
              </a:p>
              <a:p>
                <a:r>
                  <a:rPr lang="en-US" dirty="0" err="1"/>
                  <a:t>Batch_size</a:t>
                </a:r>
                <a:r>
                  <a:rPr lang="en-US" dirty="0"/>
                  <a:t> = 256, epoch = 40, </a:t>
                </a:r>
                <a:r>
                  <a:rPr lang="en-US" dirty="0" err="1"/>
                  <a:t>learning_rate</a:t>
                </a:r>
                <a:r>
                  <a:rPr lang="en-US" dirty="0"/>
                  <a:t> = 0.0005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97A0C2-2545-B70D-5B3A-AB7D64358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9013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89397D1-291E-2F5A-2742-DE903C7D95F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:r>
                  <a:rPr lang="en-US" dirty="0"/>
                  <a:t>Test results for general Poisson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𝑥𝑦𝑦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89397D1-291E-2F5A-2742-DE903C7D95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t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 descr="A graph of a curve&#10;&#10;Description automatically generated">
            <a:extLst>
              <a:ext uri="{FF2B5EF4-FFF2-40B4-BE49-F238E27FC236}">
                <a16:creationId xmlns:a16="http://schemas.microsoft.com/office/drawing/2014/main" id="{4A9C047D-7148-33FA-8950-FC157FC87F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4335" y="1690688"/>
            <a:ext cx="4580557" cy="4021180"/>
          </a:xfrm>
        </p:spPr>
      </p:pic>
      <p:pic>
        <p:nvPicPr>
          <p:cNvPr id="7" name="Picture 6" descr="A graph with red lines and numbers&#10;&#10;Description automatically generated">
            <a:extLst>
              <a:ext uri="{FF2B5EF4-FFF2-40B4-BE49-F238E27FC236}">
                <a16:creationId xmlns:a16="http://schemas.microsoft.com/office/drawing/2014/main" id="{FACC59E7-72BC-E82B-C6E5-6B22CFF73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159" y="1603005"/>
            <a:ext cx="4951320" cy="44846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DFDD9E-F2F7-3489-89E8-38D4E3C6E395}"/>
              </a:ext>
            </a:extLst>
          </p:cNvPr>
          <p:cNvSpPr txBox="1"/>
          <p:nvPr/>
        </p:nvSpPr>
        <p:spPr>
          <a:xfrm>
            <a:off x="2596809" y="5902983"/>
            <a:ext cx="2041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 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E6FC03-D3E7-C993-2A27-53F876D83B76}"/>
              </a:ext>
            </a:extLst>
          </p:cNvPr>
          <p:cNvSpPr txBox="1"/>
          <p:nvPr/>
        </p:nvSpPr>
        <p:spPr>
          <a:xfrm>
            <a:off x="6901842" y="6201962"/>
            <a:ext cx="4146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gradient estimation (norm of gradient)</a:t>
            </a:r>
          </a:p>
        </p:txBody>
      </p:sp>
    </p:spTree>
    <p:extLst>
      <p:ext uri="{BB962C8B-B14F-4D97-AF65-F5344CB8AC3E}">
        <p14:creationId xmlns:p14="http://schemas.microsoft.com/office/powerpoint/2010/main" val="511318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F4C2-825C-4144-C1AE-18FC1E7F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DA093-BFE3-D3D6-E880-CC4E47E8D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doing: </a:t>
            </a:r>
          </a:p>
          <a:p>
            <a:pPr lvl="1"/>
            <a:r>
              <a:rPr lang="en-US" dirty="0"/>
              <a:t>3-dimensional Laplacian example: 3-d projection and sample among the sphere, working with polygon soup</a:t>
            </a:r>
          </a:p>
          <a:p>
            <a:pPr lvl="1"/>
            <a:r>
              <a:rPr lang="en-US" dirty="0"/>
              <a:t>integrated PDE solver: include the path sampling process into the solver (flexible batch)</a:t>
            </a:r>
          </a:p>
          <a:p>
            <a:r>
              <a:rPr lang="en-US" dirty="0"/>
              <a:t>3-dimensional Poisson: different green’s function sampling</a:t>
            </a:r>
          </a:p>
          <a:p>
            <a:r>
              <a:rPr lang="en-US" dirty="0"/>
              <a:t>Absorption: Poisson-Boltzmann equation solving</a:t>
            </a:r>
          </a:p>
          <a:p>
            <a:r>
              <a:rPr lang="en-US" dirty="0"/>
              <a:t>Different boundary conditions and experiments, comparison.</a:t>
            </a:r>
          </a:p>
          <a:p>
            <a:pPr lvl="1"/>
            <a:r>
              <a:rPr lang="en-US" dirty="0"/>
              <a:t>different NN structure and hyper parameters.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812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1116</Words>
  <Application>Microsoft Macintosh PowerPoint</Application>
  <PresentationFormat>Widescreen</PresentationFormat>
  <Paragraphs>111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WoS NN on Poisson</vt:lpstr>
      <vt:lpstr>Background</vt:lpstr>
      <vt:lpstr>Original WoS</vt:lpstr>
      <vt:lpstr>2. Multiple start places with 1 path for each (Start Y is approximated by YNN)</vt:lpstr>
      <vt:lpstr>Network Structure</vt:lpstr>
      <vt:lpstr>The left problem: Batch utilize</vt:lpstr>
      <vt:lpstr>New Network Structure</vt:lpstr>
      <vt:lpstr>Settings</vt:lpstr>
      <vt:lpstr>Test Results and comparison – local solutions</vt:lpstr>
      <vt:lpstr>Test Results and comparison – gradient norm</vt:lpstr>
      <vt:lpstr>Source term contribution</vt:lpstr>
      <vt:lpstr>Solving Poisson Equations</vt:lpstr>
      <vt:lpstr>Test Results for Constant Source f=6, u=2x^2+y^2</vt:lpstr>
      <vt:lpstr>Solving Poisson Equations</vt:lpstr>
      <vt:lpstr>Test results for general Poisson f=2x, u=xyy</vt:lpstr>
      <vt:lpstr>Next step to 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Silei Song</dc:creator>
  <cp:lastModifiedBy>Silei Song</cp:lastModifiedBy>
  <cp:revision>14</cp:revision>
  <dcterms:created xsi:type="dcterms:W3CDTF">2024-05-22T03:23:15Z</dcterms:created>
  <dcterms:modified xsi:type="dcterms:W3CDTF">2024-05-22T15:36:49Z</dcterms:modified>
</cp:coreProperties>
</file>